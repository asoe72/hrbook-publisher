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6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7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8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9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10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11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12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13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14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15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16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47" r:id="rId2"/>
    <p:sldMasterId id="2147483752" r:id="rId3"/>
    <p:sldMasterId id="2147483758" r:id="rId4"/>
    <p:sldMasterId id="2147483764" r:id="rId5"/>
    <p:sldMasterId id="2147483774" r:id="rId6"/>
    <p:sldMasterId id="2147483780" r:id="rId7"/>
    <p:sldMasterId id="2147483786" r:id="rId8"/>
    <p:sldMasterId id="2147483792" r:id="rId9"/>
    <p:sldMasterId id="2147483798" r:id="rId10"/>
    <p:sldMasterId id="2147483804" r:id="rId11"/>
    <p:sldMasterId id="2147483810" r:id="rId12"/>
    <p:sldMasterId id="2147483816" r:id="rId13"/>
    <p:sldMasterId id="2147483822" r:id="rId14"/>
    <p:sldMasterId id="2147483828" r:id="rId15"/>
    <p:sldMasterId id="2147483834" r:id="rId16"/>
    <p:sldMasterId id="2147483840" r:id="rId17"/>
  </p:sldMasterIdLst>
  <p:notesMasterIdLst>
    <p:notesMasterId r:id="rId53"/>
  </p:notesMasterIdLst>
  <p:handoutMasterIdLst>
    <p:handoutMasterId r:id="rId54"/>
  </p:handoutMasterIdLst>
  <p:sldIdLst>
    <p:sldId id="510" r:id="rId18"/>
    <p:sldId id="845" r:id="rId19"/>
    <p:sldId id="828" r:id="rId20"/>
    <p:sldId id="829" r:id="rId21"/>
    <p:sldId id="833" r:id="rId22"/>
    <p:sldId id="832" r:id="rId23"/>
    <p:sldId id="850" r:id="rId24"/>
    <p:sldId id="847" r:id="rId25"/>
    <p:sldId id="838" r:id="rId26"/>
    <p:sldId id="846" r:id="rId27"/>
    <p:sldId id="848" r:id="rId28"/>
    <p:sldId id="849" r:id="rId29"/>
    <p:sldId id="861" r:id="rId30"/>
    <p:sldId id="862" r:id="rId31"/>
    <p:sldId id="853" r:id="rId32"/>
    <p:sldId id="854" r:id="rId33"/>
    <p:sldId id="857" r:id="rId34"/>
    <p:sldId id="858" r:id="rId35"/>
    <p:sldId id="839" r:id="rId36"/>
    <p:sldId id="855" r:id="rId37"/>
    <p:sldId id="860" r:id="rId38"/>
    <p:sldId id="837" r:id="rId39"/>
    <p:sldId id="844" r:id="rId40"/>
    <p:sldId id="859" r:id="rId41"/>
    <p:sldId id="863" r:id="rId42"/>
    <p:sldId id="864" r:id="rId43"/>
    <p:sldId id="825" r:id="rId44"/>
    <p:sldId id="834" r:id="rId45"/>
    <p:sldId id="841" r:id="rId46"/>
    <p:sldId id="835" r:id="rId47"/>
    <p:sldId id="818" r:id="rId48"/>
    <p:sldId id="819" r:id="rId49"/>
    <p:sldId id="826" r:id="rId50"/>
    <p:sldId id="820" r:id="rId51"/>
    <p:sldId id="856" r:id="rId52"/>
  </p:sldIdLst>
  <p:sldSz cx="9906000" cy="6858000" type="A4"/>
  <p:notesSz cx="6807200" cy="9939338"/>
  <p:defaultTextStyle>
    <a:defPPr>
      <a:defRPr lang="ko-KR"/>
    </a:defPPr>
    <a:lvl1pPr marL="0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515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027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5543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4056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2571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1083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49597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28110" algn="l" defTabSz="95702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020년 경영계획" id="{874C963E-594C-448C-AA41-9C8E35B3B629}">
          <p14:sldIdLst>
            <p14:sldId id="510"/>
            <p14:sldId id="845"/>
            <p14:sldId id="828"/>
            <p14:sldId id="829"/>
            <p14:sldId id="833"/>
            <p14:sldId id="832"/>
            <p14:sldId id="850"/>
            <p14:sldId id="847"/>
            <p14:sldId id="838"/>
            <p14:sldId id="846"/>
            <p14:sldId id="848"/>
            <p14:sldId id="849"/>
            <p14:sldId id="861"/>
            <p14:sldId id="862"/>
            <p14:sldId id="853"/>
            <p14:sldId id="854"/>
            <p14:sldId id="857"/>
            <p14:sldId id="858"/>
          </p14:sldIdLst>
        </p14:section>
        <p14:section name="PDF 생성과 hr-mdbook.js" id="{7F7C400F-E412-4571-9F22-7509AE9CE693}">
          <p14:sldIdLst>
            <p14:sldId id="839"/>
            <p14:sldId id="855"/>
            <p14:sldId id="860"/>
            <p14:sldId id="837"/>
            <p14:sldId id="844"/>
            <p14:sldId id="859"/>
          </p14:sldIdLst>
        </p14:section>
        <p14:section name="hr-mdbook.js 설계" id="{69D29E15-2DAC-4F50-B077-8475F413B1A8}">
          <p14:sldIdLst>
            <p14:sldId id="863"/>
            <p14:sldId id="864"/>
            <p14:sldId id="825"/>
            <p14:sldId id="834"/>
            <p14:sldId id="841"/>
            <p14:sldId id="835"/>
            <p14:sldId id="818"/>
            <p14:sldId id="819"/>
            <p14:sldId id="826"/>
            <p14:sldId id="820"/>
            <p14:sldId id="856"/>
          </p14:sldIdLst>
        </p14:section>
        <p14:section name="BACKUP" id="{43B45909-FF9A-43B1-BDCF-F2F72BA3F108}">
          <p14:sldIdLst/>
        </p14:section>
      </p14:sectionLst>
    </p:ext>
    <p:ext uri="{EFAFB233-063F-42B5-8137-9DF3F51BA10A}">
      <p15:sldGuideLst xmlns:p15="http://schemas.microsoft.com/office/powerpoint/2012/main" xmlns="">
        <p15:guide id="1" orient="horz" pos="28" userDrawn="1">
          <p15:clr>
            <a:srgbClr val="A4A3A4"/>
          </p15:clr>
        </p15:guide>
        <p15:guide id="5" pos="3402">
          <p15:clr>
            <a:srgbClr val="A4A3A4"/>
          </p15:clr>
        </p15:guide>
        <p15:guide id="7" pos="5842" userDrawn="1">
          <p15:clr>
            <a:srgbClr val="A4A3A4"/>
          </p15:clr>
        </p15:guide>
        <p15:guide id="8" pos="489" userDrawn="1">
          <p15:clr>
            <a:srgbClr val="A4A3A4"/>
          </p15:clr>
        </p15:guide>
        <p15:guide id="11" orient="horz" pos="73" userDrawn="1">
          <p15:clr>
            <a:srgbClr val="A4A3A4"/>
          </p15:clr>
        </p15:guide>
        <p15:guide id="12" orient="horz" userDrawn="1">
          <p15:clr>
            <a:srgbClr val="A4A3A4"/>
          </p15:clr>
        </p15:guide>
        <p15:guide id="14" orient="horz" pos="799">
          <p15:clr>
            <a:srgbClr val="A4A3A4"/>
          </p15:clr>
        </p15:guide>
        <p15:guide id="15" orient="horz" pos="2523" userDrawn="1">
          <p15:clr>
            <a:srgbClr val="A4A3A4"/>
          </p15:clr>
        </p15:guide>
        <p15:guide id="16" orient="horz" pos="3929" userDrawn="1">
          <p15:clr>
            <a:srgbClr val="A4A3A4"/>
          </p15:clr>
        </p15:guide>
        <p15:guide id="19" orient="horz" pos="4320" userDrawn="1">
          <p15:clr>
            <a:srgbClr val="A4A3A4"/>
          </p15:clr>
        </p15:guide>
        <p15:guide id="20" orient="horz" pos="2976">
          <p15:clr>
            <a:srgbClr val="A4A3A4"/>
          </p15:clr>
        </p15:guide>
        <p15:guide id="22" pos="3256" userDrawn="1">
          <p15:clr>
            <a:srgbClr val="A4A3A4"/>
          </p15:clr>
        </p15:guide>
        <p15:guide id="23" pos="3120">
          <p15:clr>
            <a:srgbClr val="A4A3A4"/>
          </p15:clr>
        </p15:guide>
        <p15:guide id="27" pos="6240" userDrawn="1">
          <p15:clr>
            <a:srgbClr val="A4A3A4"/>
          </p15:clr>
        </p15:guide>
        <p15:guide id="34" pos="262" userDrawn="1">
          <p15:clr>
            <a:srgbClr val="A4A3A4"/>
          </p15:clr>
        </p15:guide>
        <p15:guide id="35" pos="35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30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058"/>
    <a:srgbClr val="A2D368"/>
    <a:srgbClr val="3AB98C"/>
    <a:srgbClr val="AED0B4"/>
    <a:srgbClr val="034EA2"/>
    <a:srgbClr val="009999"/>
    <a:srgbClr val="DDD9C4"/>
    <a:srgbClr val="FFC000"/>
    <a:srgbClr val="00469E"/>
    <a:srgbClr val="F5B3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01" autoAdjust="0"/>
    <p:restoredTop sz="92674" autoAdjust="0"/>
  </p:normalViewPr>
  <p:slideViewPr>
    <p:cSldViewPr>
      <p:cViewPr>
        <p:scale>
          <a:sx n="100" d="100"/>
          <a:sy n="100" d="100"/>
        </p:scale>
        <p:origin x="-120" y="-120"/>
      </p:cViewPr>
      <p:guideLst>
        <p:guide orient="horz" pos="28"/>
        <p:guide orient="horz" pos="73"/>
        <p:guide orient="horz"/>
        <p:guide orient="horz" pos="799"/>
        <p:guide orient="horz" pos="2523"/>
        <p:guide orient="horz" pos="3929"/>
        <p:guide orient="horz" pos="4320"/>
        <p:guide orient="horz" pos="2976"/>
        <p:guide pos="3402"/>
        <p:guide pos="5842"/>
        <p:guide pos="489"/>
        <p:guide pos="3256"/>
        <p:guide pos="3120"/>
        <p:guide pos="6240"/>
        <p:guide pos="262"/>
        <p:guide pos="3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6630"/>
    </p:cViewPr>
  </p:sorterViewPr>
  <p:notesViewPr>
    <p:cSldViewPr>
      <p:cViewPr varScale="1">
        <p:scale>
          <a:sx n="75" d="100"/>
          <a:sy n="75" d="100"/>
        </p:scale>
        <p:origin x="-2700" y="-114"/>
      </p:cViewPr>
      <p:guideLst>
        <p:guide orient="horz" pos="3130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slide" Target="slides/slide22.xml"/><Relationship Id="rId21" Type="http://schemas.openxmlformats.org/officeDocument/2006/relationships/slide" Target="slides/slide4.xml"/><Relationship Id="rId34" Type="http://schemas.openxmlformats.org/officeDocument/2006/relationships/slide" Target="slides/slide17.xml"/><Relationship Id="rId42" Type="http://schemas.openxmlformats.org/officeDocument/2006/relationships/slide" Target="slides/slide25.xml"/><Relationship Id="rId47" Type="http://schemas.openxmlformats.org/officeDocument/2006/relationships/slide" Target="slides/slide30.xml"/><Relationship Id="rId50" Type="http://schemas.openxmlformats.org/officeDocument/2006/relationships/slide" Target="slides/slide33.xml"/><Relationship Id="rId55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Relationship Id="rId46" Type="http://schemas.openxmlformats.org/officeDocument/2006/relationships/slide" Target="slides/slide29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slide" Target="slides/slide12.xml"/><Relationship Id="rId41" Type="http://schemas.openxmlformats.org/officeDocument/2006/relationships/slide" Target="slides/slide24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40" Type="http://schemas.openxmlformats.org/officeDocument/2006/relationships/slide" Target="slides/slide23.xml"/><Relationship Id="rId45" Type="http://schemas.openxmlformats.org/officeDocument/2006/relationships/slide" Target="slides/slide28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49" Type="http://schemas.openxmlformats.org/officeDocument/2006/relationships/slide" Target="slides/slide32.xml"/><Relationship Id="rId57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31" Type="http://schemas.openxmlformats.org/officeDocument/2006/relationships/slide" Target="slides/slide14.xml"/><Relationship Id="rId44" Type="http://schemas.openxmlformats.org/officeDocument/2006/relationships/slide" Target="slides/slide27.xml"/><Relationship Id="rId52" Type="http://schemas.openxmlformats.org/officeDocument/2006/relationships/slide" Target="slides/slide3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slide" Target="slides/slide26.xml"/><Relationship Id="rId48" Type="http://schemas.openxmlformats.org/officeDocument/2006/relationships/slide" Target="slides/slide31.xml"/><Relationship Id="rId56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4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49575" cy="498475"/>
          </a:xfrm>
          <a:prstGeom prst="rect">
            <a:avLst/>
          </a:prstGeom>
        </p:spPr>
        <p:txBody>
          <a:bodyPr vert="horz" lIns="91408" tIns="45703" rIns="91408" bIns="4570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42" y="2"/>
            <a:ext cx="2949575" cy="498475"/>
          </a:xfrm>
          <a:prstGeom prst="rect">
            <a:avLst/>
          </a:prstGeom>
        </p:spPr>
        <p:txBody>
          <a:bodyPr vert="horz" lIns="91408" tIns="45703" rIns="91408" bIns="45703" rtlCol="0"/>
          <a:lstStyle>
            <a:lvl1pPr algn="r">
              <a:defRPr sz="1200"/>
            </a:lvl1pPr>
          </a:lstStyle>
          <a:p>
            <a:fld id="{49D932DE-8A0D-40AF-9659-A4C115C9587F}" type="datetimeFigureOut">
              <a:rPr lang="ko-KR" altLang="en-US" smtClean="0"/>
              <a:pPr/>
              <a:t>2021-10-04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9440866"/>
            <a:ext cx="2949575" cy="498475"/>
          </a:xfrm>
          <a:prstGeom prst="rect">
            <a:avLst/>
          </a:prstGeom>
        </p:spPr>
        <p:txBody>
          <a:bodyPr vert="horz" lIns="91408" tIns="45703" rIns="91408" bIns="4570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42" y="9440866"/>
            <a:ext cx="2949575" cy="498475"/>
          </a:xfrm>
          <a:prstGeom prst="rect">
            <a:avLst/>
          </a:prstGeom>
        </p:spPr>
        <p:txBody>
          <a:bodyPr vert="horz" lIns="91408" tIns="45703" rIns="91408" bIns="45703" rtlCol="0" anchor="b"/>
          <a:lstStyle>
            <a:lvl1pPr algn="r">
              <a:defRPr sz="1200"/>
            </a:lvl1pPr>
          </a:lstStyle>
          <a:p>
            <a:fld id="{262011A6-A062-422F-8D20-70382C536C6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3225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49786" cy="496967"/>
          </a:xfrm>
          <a:prstGeom prst="rect">
            <a:avLst/>
          </a:prstGeom>
        </p:spPr>
        <p:txBody>
          <a:bodyPr vert="horz" lIns="91408" tIns="45703" rIns="91408" bIns="4570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40" y="2"/>
            <a:ext cx="2949786" cy="496967"/>
          </a:xfrm>
          <a:prstGeom prst="rect">
            <a:avLst/>
          </a:prstGeom>
        </p:spPr>
        <p:txBody>
          <a:bodyPr vert="horz" lIns="91408" tIns="45703" rIns="91408" bIns="45703" rtlCol="0"/>
          <a:lstStyle>
            <a:lvl1pPr algn="r">
              <a:defRPr sz="1200"/>
            </a:lvl1pPr>
          </a:lstStyle>
          <a:p>
            <a:fld id="{A269C484-B9D3-467B-8901-2C1CB238AA1D}" type="datetimeFigureOut">
              <a:rPr lang="ko-KR" altLang="en-US" smtClean="0"/>
              <a:pPr/>
              <a:t>2021-10-04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8" tIns="45703" rIns="91408" bIns="45703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87"/>
            <a:ext cx="5445760" cy="4472702"/>
          </a:xfrm>
          <a:prstGeom prst="rect">
            <a:avLst/>
          </a:prstGeom>
        </p:spPr>
        <p:txBody>
          <a:bodyPr vert="horz" lIns="91408" tIns="45703" rIns="91408" bIns="45703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0649"/>
            <a:ext cx="2949786" cy="496967"/>
          </a:xfrm>
          <a:prstGeom prst="rect">
            <a:avLst/>
          </a:prstGeom>
        </p:spPr>
        <p:txBody>
          <a:bodyPr vert="horz" lIns="91408" tIns="45703" rIns="91408" bIns="4570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40" y="9440649"/>
            <a:ext cx="2949786" cy="496967"/>
          </a:xfrm>
          <a:prstGeom prst="rect">
            <a:avLst/>
          </a:prstGeom>
        </p:spPr>
        <p:txBody>
          <a:bodyPr vert="horz" lIns="91408" tIns="45703" rIns="91408" bIns="45703" rtlCol="0" anchor="b"/>
          <a:lstStyle>
            <a:lvl1pPr algn="r">
              <a:defRPr sz="1200"/>
            </a:lvl1pPr>
          </a:lstStyle>
          <a:p>
            <a:fld id="{1B2419FC-61E7-4530-ABDA-4B4881499DA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354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38562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77122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15684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54244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192805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31367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069926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08488" algn="l" defTabSz="87712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856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094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0948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0948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0948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419FC-61E7-4530-ABDA-4B4881499DAA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094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0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0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4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0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4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0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4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0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0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4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10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4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0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4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10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10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10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4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10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4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10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28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750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661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384068" y="512680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현대체Medium" panose="02020603020101020101" pitchFamily="18" charset="-127"/>
              <a:ea typeface="현대체Medium" panose="02020603020101020101" pitchFamily="18" charset="-127"/>
            </a:endParaRPr>
          </a:p>
        </p:txBody>
      </p:sp>
      <p:sp>
        <p:nvSpPr>
          <p:cNvPr id="5" name="Rectangle 17"/>
          <p:cNvSpPr>
            <a:spLocks noChangeArrowheads="1"/>
          </p:cNvSpPr>
          <p:nvPr userDrawn="1"/>
        </p:nvSpPr>
        <p:spPr bwMode="auto">
          <a:xfrm flipH="1">
            <a:off x="9575691" y="1029696"/>
            <a:ext cx="393566" cy="19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43856" rIns="0" bIns="43856"/>
          <a:lstStyle/>
          <a:p>
            <a:pPr algn="ctr">
              <a:lnSpc>
                <a:spcPct val="100000"/>
              </a:lnSpc>
              <a:defRPr/>
            </a:pPr>
            <a:fld id="{2BB8872E-4CE4-4DE7-BA1A-F3F28E5123FF}" type="slidenum">
              <a:rPr lang="en-US" altLang="ko-KR" sz="800" i="0">
                <a:solidFill>
                  <a:schemeClr val="bg1"/>
                </a:solidFill>
                <a:latin typeface="현대체Medium" panose="02020603020101020101" pitchFamily="18" charset="-127"/>
                <a:ea typeface="현대체Medium" panose="02020603020101020101" pitchFamily="18" charset="-127"/>
                <a:cs typeface="Arial" pitchFamily="34" charset="0"/>
              </a:rPr>
              <a:pPr algn="ctr">
                <a:lnSpc>
                  <a:spcPct val="100000"/>
                </a:lnSpc>
                <a:defRPr/>
              </a:pPr>
              <a:t>‹#›</a:t>
            </a:fld>
            <a:endParaRPr lang="en-US" altLang="ko-KR" sz="800" i="0" dirty="0">
              <a:solidFill>
                <a:schemeClr val="bg1"/>
              </a:solidFill>
              <a:latin typeface="현대체Medium" panose="02020603020101020101" pitchFamily="18" charset="-127"/>
              <a:ea typeface="현대체Medium" panose="02020603020101020101" pitchFamily="18" charset="-127"/>
              <a:cs typeface="Arial" pitchFamily="34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541" y="-8850"/>
            <a:ext cx="2514967" cy="1375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9040717" y="6500509"/>
            <a:ext cx="736819" cy="31286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>
                <a:latin typeface="현대체Medium" panose="02020603020101020101" pitchFamily="18" charset="-127"/>
                <a:ea typeface="현대체Medium" panose="02020603020101020101" pitchFamily="18" charset="-127"/>
              </a:rPr>
              <a:pPr/>
              <a:t>‹#›</a:t>
            </a:fld>
            <a:endParaRPr lang="ko-KR" altLang="en-US" sz="1050" dirty="0">
              <a:latin typeface="현대체Medium" panose="02020603020101020101" pitchFamily="18" charset="-127"/>
              <a:ea typeface="현대체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936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fld id="{D0D33BF8-E5D0-4F2E-9A1C-DC1F20FFC8F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현대체Medium" panose="02020603020101020101" pitchFamily="18" charset="-127"/>
              <a:ea typeface="현대체Medium" panose="02020603020101020101" pitchFamily="18" charset="-127"/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858135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12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410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5084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1442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1928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450" y="6498218"/>
            <a:ext cx="9903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830A7F3-CEB5-42D3-A49B-D9F0EC326CBE}" type="slidenum">
              <a:rPr lang="ko-KR" altLang="en-US" sz="1200" b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 algn="ctr"/>
              <a:t>‹#›</a:t>
            </a:fld>
            <a:endParaRPr lang="ko-KR" altLang="en-US" sz="12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103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03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213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" name="Rectangle 17"/>
          <p:cNvSpPr>
            <a:spLocks noChangeArrowheads="1"/>
          </p:cNvSpPr>
          <p:nvPr userDrawn="1"/>
        </p:nvSpPr>
        <p:spPr bwMode="auto">
          <a:xfrm flipH="1">
            <a:off x="9575691" y="1029696"/>
            <a:ext cx="393566" cy="19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43856" rIns="0" bIns="43856"/>
          <a:lstStyle/>
          <a:p>
            <a:pPr algn="ctr">
              <a:defRPr/>
            </a:pPr>
            <a:fld id="{2BB8872E-4CE4-4DE7-BA1A-F3F28E5123FF}" type="slidenum">
              <a:rPr lang="en-US" altLang="ko-KR" sz="800">
                <a:solidFill>
                  <a:prstClr val="white"/>
                </a:solidFill>
                <a:latin typeface="현대체Medium" panose="02020603020101020101" pitchFamily="18" charset="-127"/>
                <a:ea typeface="현대체Medium" panose="02020603020101020101" pitchFamily="18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en-US" altLang="ko-KR" sz="800" dirty="0">
              <a:solidFill>
                <a:prstClr val="white"/>
              </a:solidFill>
              <a:latin typeface="현대체Medium" panose="02020603020101020101" pitchFamily="18" charset="-127"/>
              <a:ea typeface="현대체Medium" panose="02020603020101020101" pitchFamily="18" charset="-127"/>
              <a:cs typeface="Arial" pitchFamily="34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541" y="-8850"/>
            <a:ext cx="2514967" cy="1375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8277239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18830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영문) 제목 1~3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" y="-1"/>
            <a:ext cx="9906000" cy="4111625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 dirty="0">
              <a:solidFill>
                <a:prstClr val="white"/>
              </a:solidFill>
            </a:endParaRPr>
          </a:p>
        </p:txBody>
      </p:sp>
      <p:pic>
        <p:nvPicPr>
          <p:cNvPr id="9" name="Picture 3" descr="C:\Users\HHI\Desktop\CI\HHI CI\PNG\Hyundai_CI_whit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65370" y="3173452"/>
            <a:ext cx="1188000" cy="26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HHI\Desktop\global-leader-gray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9121" y="548680"/>
            <a:ext cx="1271345" cy="177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1"/>
          <p:cNvSpPr>
            <a:spLocks noGrp="1"/>
          </p:cNvSpPr>
          <p:nvPr>
            <p:ph type="ctrTitle" hasCustomPrompt="1"/>
          </p:nvPr>
        </p:nvSpPr>
        <p:spPr>
          <a:xfrm>
            <a:off x="814936" y="1052736"/>
            <a:ext cx="7378402" cy="1707718"/>
          </a:xfrm>
        </p:spPr>
        <p:txBody>
          <a:bodyPr>
            <a:normAutofit/>
          </a:bodyPr>
          <a:lstStyle>
            <a:lvl1pPr>
              <a:lnSpc>
                <a:spcPts val="4500"/>
              </a:lnSpc>
              <a:defRPr sz="4000" baseline="0">
                <a:solidFill>
                  <a:schemeClr val="bg1"/>
                </a:solidFill>
                <a:latin typeface="현대체 Bold" panose="02020503020101020101" pitchFamily="18" charset="-127"/>
                <a:ea typeface="현대체 Bold" panose="02020503020101020101" pitchFamily="18" charset="-127"/>
                <a:cs typeface="현대체 Bold" panose="02020503020101020101" pitchFamily="18" charset="-127"/>
              </a:defRPr>
            </a:lvl1pPr>
          </a:lstStyle>
          <a:p>
            <a:r>
              <a:rPr lang="en-US" altLang="ko-KR" dirty="0" smtClean="0"/>
              <a:t>1~3</a:t>
            </a:r>
            <a:r>
              <a:rPr lang="ko-KR" altLang="en-US" dirty="0" smtClean="0"/>
              <a:t>줄</a:t>
            </a:r>
            <a:r>
              <a:rPr lang="en-US" altLang="ko-KR" dirty="0" smtClean="0"/>
              <a:t> </a:t>
            </a:r>
            <a:r>
              <a:rPr lang="ko-KR" altLang="en-US" dirty="0" smtClean="0"/>
              <a:t>제목 입력</a:t>
            </a:r>
            <a:endParaRPr lang="ko-KR" altLang="en-US" dirty="0"/>
          </a:p>
        </p:txBody>
      </p:sp>
      <p:sp>
        <p:nvSpPr>
          <p:cNvPr id="12" name="텍스트 개체 틀 9"/>
          <p:cNvSpPr>
            <a:spLocks noGrp="1"/>
          </p:cNvSpPr>
          <p:nvPr>
            <p:ph type="body" sz="quarter" idx="13" hasCustomPrompt="1"/>
          </p:nvPr>
        </p:nvSpPr>
        <p:spPr>
          <a:xfrm>
            <a:off x="815599" y="3212149"/>
            <a:ext cx="7377379" cy="2889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현대체 Medium" panose="02020503020101020101" pitchFamily="18" charset="-127"/>
              <a:buNone/>
              <a:tabLst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현대체 Medium" panose="02020503020101020101" pitchFamily="18" charset="-127"/>
              <a:buNone/>
              <a:tabLst/>
              <a:defRPr/>
            </a:pPr>
            <a:r>
              <a:rPr lang="ko-KR" altLang="en-US" dirty="0" smtClean="0"/>
              <a:t>날짜</a:t>
            </a:r>
          </a:p>
        </p:txBody>
      </p:sp>
      <p:sp>
        <p:nvSpPr>
          <p:cNvPr id="1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815601" y="2909854"/>
            <a:ext cx="7377760" cy="360040"/>
          </a:xfrm>
        </p:spPr>
        <p:txBody>
          <a:bodyPr/>
          <a:lstStyle>
            <a:lvl1pPr marL="0" indent="0" algn="l"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소속</a:t>
            </a:r>
            <a:r>
              <a:rPr lang="en-US" altLang="ko-KR" dirty="0" smtClean="0"/>
              <a:t> </a:t>
            </a:r>
            <a:r>
              <a:rPr lang="ko-KR" altLang="en-US" dirty="0" smtClean="0"/>
              <a:t>및 발표자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483980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국문) 제목 1~3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" y="-1"/>
            <a:ext cx="9906000" cy="4111625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 dirty="0">
              <a:solidFill>
                <a:prstClr val="white"/>
              </a:solidFill>
            </a:endParaRPr>
          </a:p>
        </p:txBody>
      </p:sp>
      <p:pic>
        <p:nvPicPr>
          <p:cNvPr id="15" name="Picture 2" descr="C:\Users\HHI\Desktop\global-leader-gray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9121" y="548680"/>
            <a:ext cx="1271345" cy="177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1"/>
          <p:cNvSpPr>
            <a:spLocks noGrp="1"/>
          </p:cNvSpPr>
          <p:nvPr>
            <p:ph type="ctrTitle" hasCustomPrompt="1"/>
          </p:nvPr>
        </p:nvSpPr>
        <p:spPr>
          <a:xfrm>
            <a:off x="814936" y="1052736"/>
            <a:ext cx="7378402" cy="1707718"/>
          </a:xfrm>
        </p:spPr>
        <p:txBody>
          <a:bodyPr>
            <a:normAutofit/>
          </a:bodyPr>
          <a:lstStyle>
            <a:lvl1pPr>
              <a:lnSpc>
                <a:spcPts val="4500"/>
              </a:lnSpc>
              <a:defRPr sz="4000" baseline="0">
                <a:solidFill>
                  <a:schemeClr val="bg1"/>
                </a:solidFill>
                <a:latin typeface="현대체 Bold" panose="02020503020101020101" pitchFamily="18" charset="-127"/>
                <a:ea typeface="현대체 Bold" panose="02020503020101020101" pitchFamily="18" charset="-127"/>
                <a:cs typeface="현대체 Bold" panose="02020503020101020101" pitchFamily="18" charset="-127"/>
              </a:defRPr>
            </a:lvl1pPr>
          </a:lstStyle>
          <a:p>
            <a:r>
              <a:rPr lang="en-US" altLang="ko-KR" dirty="0" smtClean="0"/>
              <a:t>1~3</a:t>
            </a:r>
            <a:r>
              <a:rPr lang="ko-KR" altLang="en-US" dirty="0" smtClean="0"/>
              <a:t>줄 제목 입력</a:t>
            </a:r>
            <a:endParaRPr lang="ko-KR" altLang="en-US" dirty="0"/>
          </a:p>
        </p:txBody>
      </p:sp>
      <p:sp>
        <p:nvSpPr>
          <p:cNvPr id="12" name="텍스트 개체 틀 9"/>
          <p:cNvSpPr>
            <a:spLocks noGrp="1"/>
          </p:cNvSpPr>
          <p:nvPr>
            <p:ph type="body" sz="quarter" idx="13" hasCustomPrompt="1"/>
          </p:nvPr>
        </p:nvSpPr>
        <p:spPr>
          <a:xfrm>
            <a:off x="815599" y="3212149"/>
            <a:ext cx="7377379" cy="2889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현대체 Medium" panose="02020503020101020101" pitchFamily="18" charset="-127"/>
              <a:buNone/>
              <a:tabLst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현대체 Medium" panose="02020503020101020101" pitchFamily="18" charset="-127"/>
              <a:buNone/>
              <a:tabLst/>
              <a:defRPr/>
            </a:pPr>
            <a:r>
              <a:rPr lang="ko-KR" altLang="en-US" dirty="0" smtClean="0"/>
              <a:t>날짜</a:t>
            </a:r>
          </a:p>
        </p:txBody>
      </p:sp>
      <p:sp>
        <p:nvSpPr>
          <p:cNvPr id="1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815601" y="2909854"/>
            <a:ext cx="7377760" cy="360040"/>
          </a:xfrm>
        </p:spPr>
        <p:txBody>
          <a:bodyPr/>
          <a:lstStyle>
            <a:lvl1pPr marL="0" indent="0" algn="l"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소속</a:t>
            </a:r>
            <a:r>
              <a:rPr lang="en-US" altLang="ko-KR" dirty="0" smtClean="0"/>
              <a:t> </a:t>
            </a:r>
            <a:r>
              <a:rPr lang="ko-KR" altLang="en-US" dirty="0" smtClean="0"/>
              <a:t>및 발표자</a:t>
            </a:r>
            <a:endParaRPr lang="en-US" altLang="ko-KR" dirty="0" smtClean="0"/>
          </a:p>
        </p:txBody>
      </p:sp>
      <p:pic>
        <p:nvPicPr>
          <p:cNvPr id="3" name="Picture 2" descr="C:\Users\A504814\Documents\2016년\CI\현대로보틱스 임시 CI\PNG\현대로보틱스_임시CI_영문_컬러_흰색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45288" y="3847472"/>
            <a:ext cx="2261770" cy="16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 userDrawn="1"/>
        </p:nvSpPr>
        <p:spPr>
          <a:xfrm>
            <a:off x="8265368" y="260648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6014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국,영문) 배경이미지용 제목 가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ChangeArrowheads="1"/>
          </p:cNvSpPr>
          <p:nvPr userDrawn="1"/>
        </p:nvSpPr>
        <p:spPr bwMode="gray">
          <a:xfrm flipV="1">
            <a:off x="23492" y="6369641"/>
            <a:ext cx="9120508" cy="24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scene3d>
            <a:camera prst="orthographicFront">
              <a:rot lat="0" lon="10800000" rev="0"/>
            </a:camera>
            <a:lightRig rig="threePt" dir="t"/>
          </a:scene3d>
        </p:spPr>
        <p:txBody>
          <a:bodyPr wrap="none" lIns="74295" tIns="37148" rIns="74295" bIns="37148" anchor="ctr"/>
          <a:lstStyle/>
          <a:p>
            <a:pPr algn="ctr" defTabSz="914400" latinLnBrk="0">
              <a:defRPr/>
            </a:pPr>
            <a:r>
              <a:rPr lang="en-US" altLang="ko-KR" sz="2000" dirty="0">
                <a:solidFill>
                  <a:srgbClr val="4D4C4E"/>
                </a:solidFill>
                <a:latin typeface="Times New Roman" pitchFamily="18" charset="0"/>
                <a:ea typeface="굴림" pitchFamily="50" charset="-127"/>
              </a:rPr>
              <a:t> </a:t>
            </a:r>
          </a:p>
        </p:txBody>
      </p:sp>
      <p:pic>
        <p:nvPicPr>
          <p:cNvPr id="7" name="Picture 9" descr="도안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" y="1"/>
            <a:ext cx="1885950" cy="47088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>
            <a:spLocks noChangeArrowheads="1"/>
          </p:cNvSpPr>
          <p:nvPr userDrawn="1"/>
        </p:nvSpPr>
        <p:spPr bwMode="gray">
          <a:xfrm>
            <a:off x="0" y="499966"/>
            <a:ext cx="9906000" cy="6095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lIns="74244" tIns="37123" rIns="74244" bIns="37123" anchor="ctr"/>
          <a:lstStyle/>
          <a:p>
            <a:pPr algn="ctr" defTabSz="914400" latinLnBrk="0">
              <a:defRPr/>
            </a:pPr>
            <a:r>
              <a:rPr lang="en-US" altLang="ko-KR" sz="2000" dirty="0">
                <a:solidFill>
                  <a:srgbClr val="4D4C4E"/>
                </a:solidFill>
                <a:latin typeface="Times New Roman" pitchFamily="18" charset="0"/>
                <a:ea typeface="굴림" pitchFamily="50" charset="-127"/>
              </a:rPr>
              <a:t> </a:t>
            </a:r>
          </a:p>
        </p:txBody>
      </p:sp>
      <p:sp>
        <p:nvSpPr>
          <p:cNvPr id="10" name="Rectangle 8"/>
          <p:cNvSpPr>
            <a:spLocks noChangeArrowheads="1"/>
          </p:cNvSpPr>
          <p:nvPr userDrawn="1"/>
        </p:nvSpPr>
        <p:spPr bwMode="gray">
          <a:xfrm flipV="1">
            <a:off x="23497" y="6369710"/>
            <a:ext cx="9882503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scene3d>
            <a:camera prst="orthographicFront">
              <a:rot lat="0" lon="10800000" rev="0"/>
            </a:camera>
            <a:lightRig rig="threePt" dir="t"/>
          </a:scene3d>
        </p:spPr>
        <p:txBody>
          <a:bodyPr wrap="none" lIns="74244" tIns="37123" rIns="74244" bIns="37123" anchor="ctr"/>
          <a:lstStyle/>
          <a:p>
            <a:pPr algn="ctr" defTabSz="914400" latinLnBrk="0">
              <a:defRPr/>
            </a:pPr>
            <a:r>
              <a:rPr lang="en-US" altLang="ko-KR" sz="2000" dirty="0">
                <a:solidFill>
                  <a:srgbClr val="4D4C4E"/>
                </a:solidFill>
                <a:latin typeface="Times New Roman" pitchFamily="18" charset="0"/>
                <a:ea typeface="굴림" pitchFamily="50" charset="-127"/>
              </a:rPr>
              <a:t> </a:t>
            </a:r>
          </a:p>
        </p:txBody>
      </p:sp>
      <p:sp>
        <p:nvSpPr>
          <p:cNvPr id="11" name="직사각형 10"/>
          <p:cNvSpPr/>
          <p:nvPr userDrawn="1"/>
        </p:nvSpPr>
        <p:spPr>
          <a:xfrm>
            <a:off x="7519898" y="6503401"/>
            <a:ext cx="23861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914400"/>
            <a:r>
              <a:rPr lang="en-US" altLang="ko-KR" sz="1400" b="1" dirty="0">
                <a:solidFill>
                  <a:srgbClr val="3333FF"/>
                </a:solidFill>
                <a:latin typeface="맑은 고딕" pitchFamily="50" charset="-127"/>
                <a:ea typeface="맑은 고딕" pitchFamily="50" charset="-127"/>
              </a:rPr>
              <a:t>“Smart Factory Designer”</a:t>
            </a:r>
            <a:endParaRPr lang="ko-KR" altLang="en-US" sz="1400" dirty="0">
              <a:solidFill>
                <a:srgbClr val="4D4C4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376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/>
          <p:cNvSpPr>
            <a:spLocks noChangeArrowheads="1"/>
          </p:cNvSpPr>
          <p:nvPr userDrawn="1"/>
        </p:nvSpPr>
        <p:spPr bwMode="gray">
          <a:xfrm>
            <a:off x="29" y="507856"/>
            <a:ext cx="9907905" cy="457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rgbClr val="0070C0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lIns="74244" tIns="37123" rIns="74244" bIns="37123" anchor="ctr"/>
          <a:lstStyle/>
          <a:p>
            <a:pPr algn="ctr" defTabSz="914400" latinLnBrk="0">
              <a:defRPr/>
            </a:pPr>
            <a:r>
              <a:rPr lang="en-US" altLang="ko-KR" sz="2000" dirty="0">
                <a:solidFill>
                  <a:srgbClr val="4D4C4E"/>
                </a:solidFill>
              </a:rPr>
              <a:t> </a:t>
            </a:r>
          </a:p>
        </p:txBody>
      </p:sp>
      <p:sp>
        <p:nvSpPr>
          <p:cNvPr id="2" name="직사각형 1"/>
          <p:cNvSpPr/>
          <p:nvPr userDrawn="1"/>
        </p:nvSpPr>
        <p:spPr>
          <a:xfrm>
            <a:off x="-9159" y="2"/>
            <a:ext cx="9915159" cy="508091"/>
          </a:xfrm>
          <a:prstGeom prst="rect">
            <a:avLst/>
          </a:prstGeom>
          <a:solidFill>
            <a:schemeClr val="accent5">
              <a:lumMod val="20000"/>
              <a:lumOff val="8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>
              <a:noFill/>
            </a:endParaRPr>
          </a:p>
        </p:txBody>
      </p:sp>
      <p:pic>
        <p:nvPicPr>
          <p:cNvPr id="2050" name="Picture 2" descr="C:\Users\A504814\Documents\2016년\CI\현대로보틱스 임시 CI\PNG\현대로보틱스_임시CI_영문_컬러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9241" y="245917"/>
            <a:ext cx="2232248" cy="16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/>
          <p:cNvSpPr>
            <a:spLocks noChangeArrowheads="1"/>
          </p:cNvSpPr>
          <p:nvPr userDrawn="1"/>
        </p:nvSpPr>
        <p:spPr bwMode="gray">
          <a:xfrm>
            <a:off x="-1905" y="6482307"/>
            <a:ext cx="9907905" cy="4163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rgbClr val="0070C0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lIns="74244" tIns="37123" rIns="74244" bIns="37123" anchor="ctr"/>
          <a:lstStyle/>
          <a:p>
            <a:pPr algn="ctr" defTabSz="914400" latinLnBrk="0">
              <a:defRPr/>
            </a:pPr>
            <a:r>
              <a:rPr lang="en-US" altLang="ko-KR" sz="2000" dirty="0">
                <a:solidFill>
                  <a:srgbClr val="4D4C4E"/>
                </a:solidFill>
              </a:rPr>
              <a:t> </a:t>
            </a:r>
          </a:p>
        </p:txBody>
      </p:sp>
      <p:sp>
        <p:nvSpPr>
          <p:cNvPr id="7" name="직각 삼각형 6"/>
          <p:cNvSpPr/>
          <p:nvPr userDrawn="1"/>
        </p:nvSpPr>
        <p:spPr>
          <a:xfrm rot="16200000">
            <a:off x="9852973" y="507564"/>
            <a:ext cx="60959" cy="4571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1"/>
          </p:nvPr>
        </p:nvSpPr>
        <p:spPr>
          <a:xfrm>
            <a:off x="-47516" y="6469664"/>
            <a:ext cx="344488" cy="419400"/>
          </a:xfrm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0061C8C0-D17A-4AB6-8BA3-823AA3DB1276}" type="slidenum">
              <a:rPr lang="ko-KR" altLang="en-US" smtClean="0">
                <a:solidFill>
                  <a:srgbClr val="262627"/>
                </a:solidFill>
              </a:rPr>
              <a:pPr/>
              <a:t>‹#›</a:t>
            </a:fld>
            <a:endParaRPr lang="ko-KR" altLang="en-US" dirty="0">
              <a:solidFill>
                <a:srgbClr val="262627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8306870" y="6523942"/>
            <a:ext cx="15536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914400"/>
            <a:r>
              <a:rPr lang="en-US" altLang="ko-KR" sz="1400" b="1" dirty="0">
                <a:solidFill>
                  <a:srgbClr val="3333FF"/>
                </a:solidFill>
                <a:latin typeface="맑은 고딕" pitchFamily="50" charset="-127"/>
                <a:ea typeface="맑은 고딕" pitchFamily="50" charset="-127"/>
              </a:rPr>
              <a:t>“Robot for You”</a:t>
            </a:r>
            <a:endParaRPr lang="ko-KR" altLang="en-US" sz="1400" dirty="0">
              <a:solidFill>
                <a:srgbClr val="4D4C4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9083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2630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0" y="6525344"/>
            <a:ext cx="9906000" cy="36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906000" cy="797542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>
              <a:solidFill>
                <a:prstClr val="white"/>
              </a:solidFill>
            </a:endParaRPr>
          </a:p>
        </p:txBody>
      </p:sp>
      <p:pic>
        <p:nvPicPr>
          <p:cNvPr id="9" name="Picture 2" descr="C:\Users\HHI\Desktop\CI\HHI CI\PNG\Hyundai_CI_whit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89539" y="432488"/>
            <a:ext cx="1188000" cy="26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116632"/>
            <a:ext cx="8424936" cy="626318"/>
          </a:xfrm>
        </p:spPr>
        <p:txBody>
          <a:bodyPr lIns="72000" tIns="0" rIns="0" bIns="0" anchor="b" anchorCtr="0"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현대체 Bold" panose="02020503020101020101" pitchFamily="18" charset="-127"/>
                <a:ea typeface="현대체 Bold" panose="02020503020101020101" pitchFamily="18" charset="-127"/>
                <a:cs typeface="현대체 Bold" panose="02020503020101020101" pitchFamily="18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8464" y="908720"/>
            <a:ext cx="9649072" cy="5544616"/>
          </a:xfrm>
        </p:spPr>
        <p:txBody>
          <a:bodyPr/>
          <a:lstStyle>
            <a:lvl1pPr>
              <a:defRPr sz="2400">
                <a:latin typeface="현대체 Medium" panose="02020503020101020101" pitchFamily="18" charset="-127"/>
                <a:ea typeface="현대체 Medium" panose="02020503020101020101" pitchFamily="18" charset="-127"/>
                <a:cs typeface="현대체 Medium" panose="02020503020101020101" pitchFamily="18" charset="-127"/>
              </a:defRPr>
            </a:lvl1pPr>
            <a:lvl2pPr>
              <a:defRPr sz="2000">
                <a:latin typeface="현대체 Medium" panose="02020503020101020101" pitchFamily="18" charset="-127"/>
                <a:ea typeface="현대체 Medium" panose="02020503020101020101" pitchFamily="18" charset="-127"/>
                <a:cs typeface="현대체 Medium" panose="02020503020101020101" pitchFamily="18" charset="-127"/>
              </a:defRPr>
            </a:lvl2pPr>
            <a:lvl3pPr marL="1143000" indent="-228600">
              <a:buFont typeface="Wingdings" panose="05000000000000000000" pitchFamily="2" charset="2"/>
              <a:buChar char="ü"/>
              <a:defRPr sz="1800">
                <a:latin typeface="현대체 Medium" panose="02020503020101020101" pitchFamily="18" charset="-127"/>
                <a:ea typeface="현대체 Medium" panose="02020503020101020101" pitchFamily="18" charset="-127"/>
                <a:cs typeface="현대체 Medium" panose="02020503020101020101" pitchFamily="18" charset="-127"/>
              </a:defRPr>
            </a:lvl3pPr>
            <a:lvl4pPr marL="1600200" indent="-228600">
              <a:buFont typeface="Wingdings" panose="05000000000000000000" pitchFamily="2" charset="2"/>
              <a:buChar char="Ø"/>
              <a:defRPr sz="1600">
                <a:latin typeface="현대체 Medium" panose="02020503020101020101" pitchFamily="18" charset="-127"/>
                <a:ea typeface="현대체 Medium" panose="02020503020101020101" pitchFamily="18" charset="-127"/>
                <a:cs typeface="현대체 Medium" panose="02020503020101020101" pitchFamily="18" charset="-127"/>
              </a:defRPr>
            </a:lvl4pPr>
            <a:lvl5pPr>
              <a:defRPr sz="1400">
                <a:latin typeface="현대체 Medium" panose="02020503020101020101" pitchFamily="18" charset="-127"/>
                <a:ea typeface="현대체 Medium" panose="02020503020101020101" pitchFamily="18" charset="-127"/>
                <a:cs typeface="현대체 Medium" panose="02020503020101020101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466136" y="6597352"/>
            <a:ext cx="2311400" cy="216024"/>
          </a:xfrm>
        </p:spPr>
        <p:txBody>
          <a:bodyPr/>
          <a:lstStyle>
            <a:lvl1pPr>
              <a:defRPr>
                <a:latin typeface="현대체 Medium" panose="02020503020101020101" pitchFamily="18" charset="-127"/>
                <a:ea typeface="현대체 Medium" panose="02020503020101020101" pitchFamily="18" charset="-127"/>
                <a:cs typeface="현대체 Medium" panose="02020503020101020101" pitchFamily="18" charset="-127"/>
              </a:defRPr>
            </a:lvl1pPr>
          </a:lstStyle>
          <a:p>
            <a:fld id="{1D4F0E73-014E-48F9-BCAA-6473BCA3ADED}" type="slidenum">
              <a:rPr lang="ko-KR" altLang="en-US" smtClean="0">
                <a:solidFill>
                  <a:srgbClr val="4D4C4E">
                    <a:tint val="75000"/>
                  </a:srgbClr>
                </a:solidFill>
              </a:rPr>
              <a:pPr/>
              <a:t>‹#›</a:t>
            </a:fld>
            <a:endParaRPr lang="ko-KR" altLang="en-US">
              <a:solidFill>
                <a:srgbClr val="4D4C4E">
                  <a:tint val="75000"/>
                </a:srgb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1767" y="6576547"/>
            <a:ext cx="1256719" cy="266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74455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 userDrawn="1"/>
        </p:nvSpPr>
        <p:spPr>
          <a:xfrm>
            <a:off x="0" y="0"/>
            <a:ext cx="990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srgbClr val="4D4C4E">
                  <a:tint val="75000"/>
                </a:srgb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8C0-D17A-4AB6-8BA3-823AA3DB1276}" type="slidenum">
              <a:rPr lang="ko-KR" altLang="en-US" smtClean="0">
                <a:solidFill>
                  <a:srgbClr val="4D4C4E">
                    <a:tint val="75000"/>
                  </a:srgbClr>
                </a:solidFill>
              </a:rPr>
              <a:pPr/>
              <a:t>‹#›</a:t>
            </a:fld>
            <a:endParaRPr lang="ko-KR" altLang="en-US">
              <a:solidFill>
                <a:srgbClr val="4D4C4E">
                  <a:tint val="75000"/>
                </a:srgbClr>
              </a:solidFill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272480" y="652475"/>
            <a:ext cx="7776864" cy="297511"/>
          </a:xfrm>
        </p:spPr>
        <p:txBody>
          <a:bodyPr>
            <a:noAutofit/>
          </a:bodyPr>
          <a:lstStyle/>
          <a:p>
            <a:endParaRPr lang="ko-KR" altLang="en-US" sz="2800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745" y="675762"/>
            <a:ext cx="1214610" cy="288000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8265368" y="116632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7521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98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671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67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384068" y="512680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현대체Medium" panose="02020603020101020101" pitchFamily="18" charset="-127"/>
              <a:ea typeface="현대체Medium" panose="02020603020101020101" pitchFamily="18" charset="-127"/>
            </a:endParaRPr>
          </a:p>
        </p:txBody>
      </p:sp>
      <p:sp>
        <p:nvSpPr>
          <p:cNvPr id="5" name="Rectangle 17"/>
          <p:cNvSpPr>
            <a:spLocks noChangeArrowheads="1"/>
          </p:cNvSpPr>
          <p:nvPr userDrawn="1"/>
        </p:nvSpPr>
        <p:spPr bwMode="auto">
          <a:xfrm flipH="1">
            <a:off x="9575691" y="1029696"/>
            <a:ext cx="393566" cy="19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43856" rIns="0" bIns="43856"/>
          <a:lstStyle/>
          <a:p>
            <a:pPr algn="ctr">
              <a:defRPr/>
            </a:pPr>
            <a:fld id="{2BB8872E-4CE4-4DE7-BA1A-F3F28E5123FF}" type="slidenum">
              <a:rPr lang="en-US" altLang="ko-KR" sz="800">
                <a:solidFill>
                  <a:prstClr val="white"/>
                </a:solidFill>
                <a:latin typeface="현대체Medium" panose="02020603020101020101" pitchFamily="18" charset="-127"/>
                <a:ea typeface="현대체Medium" panose="02020603020101020101" pitchFamily="18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en-US" altLang="ko-KR" sz="800" dirty="0">
              <a:solidFill>
                <a:prstClr val="white"/>
              </a:solidFill>
              <a:latin typeface="현대체Medium" panose="02020603020101020101" pitchFamily="18" charset="-127"/>
              <a:ea typeface="현대체Medium" panose="02020603020101020101" pitchFamily="18" charset="-127"/>
              <a:cs typeface="Arial" pitchFamily="34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541" y="-8850"/>
            <a:ext cx="2514967" cy="1375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9040717" y="6500509"/>
            <a:ext cx="736819" cy="31286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>
                <a:latin typeface="현대체Medium" panose="02020603020101020101" pitchFamily="18" charset="-127"/>
                <a:ea typeface="현대체Medium" panose="02020603020101020101" pitchFamily="18" charset="-127"/>
              </a:rPr>
              <a:pPr/>
              <a:t>‹#›</a:t>
            </a:fld>
            <a:endParaRPr lang="ko-KR" altLang="en-US" sz="1050" dirty="0">
              <a:latin typeface="현대체Medium" panose="02020603020101020101" pitchFamily="18" charset="-127"/>
              <a:ea typeface="현대체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98619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현대체Medium" panose="02020603020101020101" pitchFamily="18" charset="-127"/>
              <a:ea typeface="현대체Medium" panose="02020603020101020101" pitchFamily="18" charset="-127"/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880012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43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47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570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6678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11966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479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10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6506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729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440017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22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700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142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1756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3796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424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32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734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6539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500027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134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62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1430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714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885155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84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1443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9894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888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900551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629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359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0065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871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546500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653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120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5802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070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52822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9710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015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900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92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5047160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433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21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5768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8197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971543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t="72284"/>
          <a:stretch/>
        </p:blipFill>
        <p:spPr>
          <a:xfrm>
            <a:off x="1117" y="4956524"/>
            <a:ext cx="9905126" cy="1900473"/>
          </a:xfrm>
          <a:prstGeom prst="rect">
            <a:avLst/>
          </a:prstGeom>
        </p:spPr>
      </p:pic>
      <p:pic>
        <p:nvPicPr>
          <p:cNvPr id="4" name="그림 3" descr="Untitled-1.jpg"/>
          <p:cNvPicPr>
            <a:picLocks noChangeAspect="1"/>
          </p:cNvPicPr>
          <p:nvPr userDrawn="1"/>
        </p:nvPicPr>
        <p:blipFill rotWithShape="1">
          <a:blip r:embed="rId2" cstate="print"/>
          <a:srcRect l="-4" b="71481"/>
          <a:stretch/>
        </p:blipFill>
        <p:spPr>
          <a:xfrm>
            <a:off x="5" y="507"/>
            <a:ext cx="9905563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4459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DF7EAE35-92E0-4714-AE6C-DD413E486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"/>
          <a:stretch/>
        </p:blipFill>
        <p:spPr>
          <a:xfrm>
            <a:off x="0" y="0"/>
            <a:ext cx="9906000" cy="686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682" y="3323596"/>
            <a:ext cx="6504368" cy="7338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>
              <a:defRPr lang="en-US" spc="-157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pPr marL="0" lvl="0" defTabSz="478897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110" y="4508819"/>
            <a:ext cx="2781935" cy="623013"/>
          </a:xfrm>
          <a:prstGeom prst="rect">
            <a:avLst/>
          </a:prstGeom>
          <a:noFill/>
        </p:spPr>
        <p:txBody>
          <a:bodyPr wrap="square" lIns="95779" tIns="47890" rIns="95779" bIns="47890" rtlCol="0">
            <a:spAutoFit/>
          </a:bodyPr>
          <a:lstStyle>
            <a:lvl1pPr marL="0" indent="0">
              <a:buNone/>
              <a:def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</a:lstStyle>
          <a:p>
            <a:pPr marL="0" lvl="0" defTabSz="478897" latinLnBrk="0"/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B7768A-52D4-40CE-98D7-DDC2D8557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429" r="16687" b="33180"/>
          <a:stretch/>
        </p:blipFill>
        <p:spPr>
          <a:xfrm>
            <a:off x="8487631" y="118515"/>
            <a:ext cx="1084467" cy="458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6BC984-A55C-4FAA-ABDA-62B2A092E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t="45364" r="17518" b="44751"/>
          <a:stretch/>
        </p:blipFill>
        <p:spPr>
          <a:xfrm>
            <a:off x="6897216" y="6398847"/>
            <a:ext cx="2674882" cy="3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15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"/>
          <a:stretch/>
        </p:blipFill>
        <p:spPr bwMode="auto">
          <a:xfrm>
            <a:off x="2201082" y="1159764"/>
            <a:ext cx="7712665" cy="570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420" y="4005218"/>
            <a:ext cx="2547382" cy="176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" y="6350888"/>
            <a:ext cx="1911438" cy="45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08" y="618690"/>
            <a:ext cx="2489993" cy="95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 userDrawn="1"/>
        </p:nvCxnSpPr>
        <p:spPr>
          <a:xfrm flipH="1" flipV="1">
            <a:off x="0" y="217217"/>
            <a:ext cx="9269397" cy="4616938"/>
          </a:xfrm>
          <a:prstGeom prst="line">
            <a:avLst/>
          </a:prstGeom>
          <a:ln w="19050">
            <a:solidFill>
              <a:srgbClr val="00B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47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7727" y1="83708" x2="86201" y2="57584"/>
                        <a14:foregroundMark x1="87662" y1="83146" x2="77760" y2="755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60" y="-8849"/>
            <a:ext cx="1723148" cy="94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128464" y="656696"/>
            <a:ext cx="9180000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116163" y="6517724"/>
            <a:ext cx="2100533" cy="26688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592960" y="6585632"/>
            <a:ext cx="748169" cy="25853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57027" rtl="0" eaLnBrk="1" latinLnBrk="1" hangingPunct="1">
              <a:defRPr sz="1200" kern="1200">
                <a:solidFill>
                  <a:srgbClr val="8A8D8F"/>
                </a:solidFill>
                <a:latin typeface="+mn-lt"/>
                <a:ea typeface="+mn-ea"/>
                <a:cs typeface="+mn-cs"/>
              </a:defRPr>
            </a:lvl1pPr>
            <a:lvl2pPr marL="478515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02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554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4056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2571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1083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9597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8110" algn="l" defTabSz="957027" rtl="0" eaLnBrk="1" latinLnBrk="1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D33BF8-E5D0-4F2E-9A1C-DC1F20FFC8FF}" type="slidenum">
              <a:rPr lang="ko-KR" altLang="en-US" sz="1050" smtClean="0"/>
              <a:pPr/>
              <a:t>‹#›</a:t>
            </a:fld>
            <a:endParaRPr lang="ko-KR" altLang="en-US" sz="105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498644" y="83340"/>
            <a:ext cx="1296144" cy="46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ko-KR" altLang="en-US" sz="1800" dirty="0" smtClean="0">
                <a:solidFill>
                  <a:srgbClr val="FF0000"/>
                </a:solidFill>
              </a:rPr>
              <a:t>對外秘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171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21288"/>
            <a:ext cx="8543925" cy="297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400" kern="1200" dirty="0">
                <a:solidFill>
                  <a:srgbClr val="42B88C"/>
                </a:solidFill>
                <a:latin typeface="현대체Bold" panose="02020603020101020101" pitchFamily="18" charset="-127"/>
                <a:ea typeface="현대체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51561"/>
            <a:ext cx="8543925" cy="51254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현대체Medium" panose="02020603020101020101" pitchFamily="18" charset="-127"/>
                <a:ea typeface="현대체Medium" panose="02020603020101020101" pitchFamily="18" charset="-127"/>
              </a:defRPr>
            </a:lvl1pPr>
            <a:lvl2pPr marL="358775" indent="-176213">
              <a:defRPr sz="1400">
                <a:latin typeface="현대체Medium" panose="02020603020101020101" pitchFamily="18" charset="-127"/>
                <a:ea typeface="현대체Medium" panose="02020603020101020101" pitchFamily="18" charset="-127"/>
              </a:defRPr>
            </a:lvl2pPr>
            <a:lvl3pPr marL="541338" indent="-182563">
              <a:defRPr sz="1200">
                <a:latin typeface="현대체Medium" panose="02020603020101020101" pitchFamily="18" charset="-127"/>
                <a:ea typeface="현대체Medium" panose="02020603020101020101" pitchFamily="18" charset="-127"/>
              </a:defRPr>
            </a:lvl3pPr>
            <a:lvl4pPr marL="715963" indent="-174625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4pPr>
            <a:lvl5pPr marL="898525" indent="-182563">
              <a:defRPr sz="1100">
                <a:latin typeface="현대체Medium" panose="02020603020101020101" pitchFamily="18" charset="-127"/>
                <a:ea typeface="현대체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5858" y="6409692"/>
            <a:ext cx="222885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0D33BF8-E5D0-4F2E-9A1C-DC1F20FFC8FF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78819622-5EC1-4424-9D12-99FCE0B94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3" t="45517" r="16847" b="43831"/>
          <a:stretch/>
        </p:blipFill>
        <p:spPr>
          <a:xfrm>
            <a:off x="7234987" y="6456312"/>
            <a:ext cx="2275577" cy="2668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854423F-EE38-46F7-9D00-7A5CC45DF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t="30115" r="18884" b="35786"/>
          <a:stretch/>
        </p:blipFill>
        <p:spPr>
          <a:xfrm>
            <a:off x="416074" y="6446021"/>
            <a:ext cx="798221" cy="3128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4B951E6-9FCB-4BE0-80E4-B1AB927DE2B1}"/>
              </a:ext>
            </a:extLst>
          </p:cNvPr>
          <p:cNvSpPr/>
          <p:nvPr userDrawn="1"/>
        </p:nvSpPr>
        <p:spPr>
          <a:xfrm>
            <a:off x="416074" y="6354409"/>
            <a:ext cx="9073853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4" name="내용 개체 틀 23"/>
          <p:cNvSpPr>
            <a:spLocks noGrp="1"/>
          </p:cNvSpPr>
          <p:nvPr>
            <p:ph sz="quarter" idx="13"/>
          </p:nvPr>
        </p:nvSpPr>
        <p:spPr>
          <a:xfrm>
            <a:off x="685509" y="434660"/>
            <a:ext cx="6645275" cy="327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z="18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체Bold" panose="02020603020101020101" pitchFamily="18" charset="-127"/>
                <a:ea typeface="현대체Bold" panose="02020603020101020101" pitchFamily="18" charset="-12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728205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theme" Target="../theme/theme9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theme" Target="../theme/theme10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theme" Target="../theme/theme11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theme" Target="../theme/theme12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theme" Target="../theme/theme13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2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theme" Target="../theme/theme16.xml"/><Relationship Id="rId5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7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theme" Target="../theme/theme17.xml"/><Relationship Id="rId5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99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50" r:id="rId2"/>
    <p:sldLayoutId id="2147483749" r:id="rId3"/>
    <p:sldLayoutId id="2147483705" r:id="rId4"/>
    <p:sldLayoutId id="2147483751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995269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95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846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963930" y="652529"/>
            <a:ext cx="6941398" cy="297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48019" y="1196753"/>
            <a:ext cx="8417982" cy="4929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973014" y="6445279"/>
            <a:ext cx="3228453" cy="412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현대체 Light" panose="02020503020101020101" pitchFamily="18" charset="-127"/>
                <a:ea typeface="현대체 Light" panose="02020503020101020101" pitchFamily="18" charset="-127"/>
                <a:cs typeface="현대체 Light" panose="02020503020101020101" pitchFamily="18" charset="-127"/>
              </a:defRPr>
            </a:lvl1pPr>
          </a:lstStyle>
          <a:p>
            <a:pPr defTabSz="914400"/>
            <a:endParaRPr lang="ko-KR" altLang="en-US" dirty="0">
              <a:solidFill>
                <a:srgbClr val="4D4C4E">
                  <a:tint val="75000"/>
                </a:srgb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438600"/>
            <a:ext cx="2311400" cy="41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현대체 Light" panose="02020503020101020101" pitchFamily="18" charset="-127"/>
                <a:ea typeface="현대체 Light" panose="02020503020101020101" pitchFamily="18" charset="-127"/>
                <a:cs typeface="현대체 Light" panose="02020503020101020101" pitchFamily="18" charset="-127"/>
              </a:defRPr>
            </a:lvl1pPr>
          </a:lstStyle>
          <a:p>
            <a:pPr defTabSz="914400"/>
            <a:fld id="{0061C8C0-D17A-4AB6-8BA3-823AA3DB1276}" type="slidenum">
              <a:rPr lang="ko-KR" altLang="en-US" smtClean="0">
                <a:solidFill>
                  <a:srgbClr val="4D4C4E">
                    <a:tint val="75000"/>
                  </a:srgbClr>
                </a:solidFill>
              </a:rPr>
              <a:pPr defTabSz="914400"/>
              <a:t>‹#›</a:t>
            </a:fld>
            <a:endParaRPr lang="ko-KR" altLang="en-US">
              <a:solidFill>
                <a:srgbClr val="4D4C4E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93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tx1"/>
          </a:solidFill>
          <a:latin typeface="현대체 Bold" panose="02020503020101020101" pitchFamily="18" charset="-127"/>
          <a:ea typeface="현대체 Bold" panose="02020503020101020101" pitchFamily="18" charset="-127"/>
          <a:cs typeface="현대체 Bold" panose="02020503020101020101" pitchFamily="18" charset="-127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현대체 Medium" panose="02020503020101020101" pitchFamily="18" charset="-127"/>
          <a:ea typeface="현대체 Medium" panose="02020503020101020101" pitchFamily="18" charset="-127"/>
          <a:cs typeface="현대체 Medium" panose="02020503020101020101" pitchFamily="18" charset="-127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현대체 Medium" panose="02020503020101020101" pitchFamily="18" charset="-127"/>
          <a:ea typeface="현대체 Medium" panose="02020503020101020101" pitchFamily="18" charset="-127"/>
          <a:cs typeface="현대체 Medium" panose="02020503020101020101" pitchFamily="18" charset="-127"/>
        </a:defRPr>
      </a:lvl2pPr>
      <a:lvl3pPr marL="1143000" indent="-228600" algn="l" defTabSz="914400" rtl="0" eaLnBrk="1" latinLnBrk="1" hangingPunct="1">
        <a:spcBef>
          <a:spcPct val="20000"/>
        </a:spcBef>
        <a:buFont typeface="현대체 Medium" panose="02020503020101020101" pitchFamily="18" charset="-127"/>
        <a:buChar char="-"/>
        <a:defRPr sz="1500" kern="1200">
          <a:solidFill>
            <a:schemeClr val="tx1"/>
          </a:solidFill>
          <a:latin typeface="현대체 Medium" panose="02020503020101020101" pitchFamily="18" charset="-127"/>
          <a:ea typeface="현대체 Medium" panose="02020503020101020101" pitchFamily="18" charset="-127"/>
          <a:cs typeface="현대체 Medium" panose="02020503020101020101" pitchFamily="18" charset="-127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현대체 Medium" panose="02020503020101020101" pitchFamily="18" charset="-127"/>
          <a:ea typeface="현대체 Medium" panose="02020503020101020101" pitchFamily="18" charset="-127"/>
          <a:cs typeface="현대체 Medium" panose="02020503020101020101" pitchFamily="18" charset="-127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현대체 Medium" panose="02020503020101020101" pitchFamily="18" charset="-127"/>
          <a:ea typeface="현대체 Medium" panose="02020503020101020101" pitchFamily="18" charset="-127"/>
          <a:cs typeface="현대체 Medium" panose="02020503020101020101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31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56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73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217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31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78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598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42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78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67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08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37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57027" rtl="0" eaLnBrk="1" latinLnBrk="1" hangingPunct="1">
        <a:lnSpc>
          <a:spcPct val="9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257" indent="-239257" algn="l" defTabSz="957027" rtl="0" eaLnBrk="1" latinLnBrk="1" hangingPunct="1">
        <a:lnSpc>
          <a:spcPct val="90000"/>
        </a:lnSpc>
        <a:spcBef>
          <a:spcPts val="104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17771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287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79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53313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826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10340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588854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369" indent="-239257" algn="l" defTabSz="957027" rtl="0" eaLnBrk="1" latinLnBrk="1" hangingPunct="1">
        <a:lnSpc>
          <a:spcPct val="90000"/>
        </a:lnSpc>
        <a:spcBef>
          <a:spcPts val="524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515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02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54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4056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571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1083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9597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8110" algn="l" defTabSz="95702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9.png"/><Relationship Id="rId3" Type="http://schemas.openxmlformats.org/officeDocument/2006/relationships/image" Target="../media/image23.png"/><Relationship Id="rId7" Type="http://schemas.openxmlformats.org/officeDocument/2006/relationships/image" Target="../media/image24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26.png"/><Relationship Id="rId5" Type="http://schemas.openxmlformats.org/officeDocument/2006/relationships/image" Target="../media/image31.png"/><Relationship Id="rId15" Type="http://schemas.openxmlformats.org/officeDocument/2006/relationships/image" Target="../media/image36.png"/><Relationship Id="rId10" Type="http://schemas.openxmlformats.org/officeDocument/2006/relationships/image" Target="../media/image34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Relationship Id="rId1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o.wikipedia.org/wiki/&#47560;&#53356;&#45796;&#50868;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gitbook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ko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edjs.org/" TargetMode="Externa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edjs.org/posts/2020-02-19-toc/" TargetMode="External"/><Relationship Id="rId2" Type="http://schemas.openxmlformats.org/officeDocument/2006/relationships/hyperlink" Target="https://gitlab.pagedmedia.org/tools/pagedjs" TargetMode="Externa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ejs.co/" TargetMode="External"/><Relationship Id="rId2" Type="http://schemas.openxmlformats.org/officeDocument/2006/relationships/hyperlink" Target="https://expressjs.com/ko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markdown-it/markdown-it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edjs.org/posts/2020-02-19-toc/" TargetMode="External"/><Relationship Id="rId2" Type="http://schemas.openxmlformats.org/officeDocument/2006/relationships/hyperlink" Target="https://gitlab.pagedmedia.org/tools/interface-polyfill" TargetMode="Externa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60512" y="2852936"/>
            <a:ext cx="9289032" cy="539914"/>
          </a:xfrm>
          <a:noFill/>
        </p:spPr>
        <p:txBody>
          <a:bodyPr wrap="square" lIns="95779" tIns="47890" rIns="95779" bIns="47890" rtlCol="0">
            <a:spAutoFit/>
          </a:bodyPr>
          <a:lstStyle/>
          <a:p>
            <a:pPr>
              <a:spcBef>
                <a:spcPts val="1044"/>
              </a:spcBef>
              <a:buFont typeface="Arial" panose="020B0604020202020204" pitchFamily="34" charset="0"/>
            </a:pPr>
            <a:r>
              <a:rPr lang="ko-KR" altLang="en-US" sz="32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설명서 웹 기반화</a:t>
            </a:r>
            <a:endParaRPr lang="ko-KR" altLang="en-US" sz="3200" dirty="0"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15586" y="4725144"/>
            <a:ext cx="3262451" cy="359864"/>
          </a:xfrm>
        </p:spPr>
        <p:txBody>
          <a:bodyPr/>
          <a:lstStyle/>
          <a:p>
            <a:r>
              <a:rPr lang="en-US" altLang="ko-KR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2021</a:t>
            </a:r>
            <a:r>
              <a:rPr lang="ko-KR" altLang="en-US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년 </a:t>
            </a:r>
            <a:r>
              <a:rPr lang="en-US" altLang="ko-KR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</a:t>
            </a:r>
            <a:r>
              <a:rPr lang="ko-KR" altLang="en-US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월 </a:t>
            </a:r>
            <a:r>
              <a:rPr lang="en-US" altLang="ko-KR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31</a:t>
            </a:r>
            <a:r>
              <a:rPr lang="ko-KR" altLang="en-US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일</a:t>
            </a:r>
            <a:endParaRPr lang="ko-KR" altLang="en-US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26" name="Picture 2" descr="C:\drv_D\pub\hr-mdbook.js\_raw\spaces_gitbook_avatar-rectangl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25" y="3447146"/>
            <a:ext cx="1377627" cy="36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52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개요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설명서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도움말의 종류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597069"/>
              </p:ext>
            </p:extLst>
          </p:nvPr>
        </p:nvGraphicFramePr>
        <p:xfrm>
          <a:off x="369501" y="1484784"/>
          <a:ext cx="3765376" cy="407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5136"/>
                <a:gridCol w="216024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종류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제어기 조작설명서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설명서</a:t>
                      </a: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제어기 기능설명서</a:t>
                      </a:r>
                      <a:endParaRPr lang="ko-KR" altLang="en-US" sz="13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스폿용접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아크용접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협조제어 등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제어기 보수설명서</a:t>
                      </a:r>
                      <a:endParaRPr lang="ko-KR" altLang="en-US" sz="13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하드웨어 설명</a:t>
                      </a:r>
                      <a:endParaRPr lang="en-US" altLang="ko-KR" sz="13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에러별 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Troubleshoot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모듈 점검 교체 방법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지원 소프트웨어별 설명서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HRLadder</a:t>
                      </a:r>
                      <a:endParaRPr lang="en-US" altLang="ko-KR" sz="13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HRSpace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…</a:t>
                      </a:r>
                      <a:endParaRPr lang="ko-KR" altLang="en-US" sz="13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기구별 설명서</a:t>
                      </a:r>
                      <a:endParaRPr lang="en-US" altLang="ko-KR" sz="13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HS220,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YL012, …</a:t>
                      </a:r>
                      <a:endParaRPr lang="ko-KR" altLang="en-US" sz="13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253578"/>
              </p:ext>
            </p:extLst>
          </p:nvPr>
        </p:nvGraphicFramePr>
        <p:xfrm>
          <a:off x="5745088" y="1484784"/>
          <a:ext cx="3765376" cy="242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5136"/>
                <a:gridCol w="216024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종류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 </a:t>
                      </a: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내장 도움말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로봇언어</a:t>
                      </a:r>
                      <a:r>
                        <a:rPr lang="en-US" altLang="ko-KR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에러</a:t>
                      </a:r>
                      <a:r>
                        <a:rPr lang="en-US" altLang="ko-KR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경고</a:t>
                      </a:r>
                      <a:r>
                        <a:rPr lang="en-US" altLang="ko-KR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Troubleshoot </a:t>
                      </a: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 탑재</a:t>
                      </a:r>
                      <a:endParaRPr lang="ko-KR" altLang="en-US" sz="13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HRMaintenance</a:t>
                      </a:r>
                      <a:endParaRPr lang="ko-KR" altLang="en-US" sz="13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에러</a:t>
                      </a:r>
                      <a:r>
                        <a:rPr lang="en-US" altLang="ko-KR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경고</a:t>
                      </a:r>
                      <a:r>
                        <a:rPr lang="en-US" altLang="ko-KR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Troubleshoot </a:t>
                      </a: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 탑재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HRMS </a:t>
                      </a: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내장 설명서 </a:t>
                      </a:r>
                      <a:endParaRPr lang="ko-KR" altLang="en-US" sz="13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에러</a:t>
                      </a:r>
                      <a:r>
                        <a:rPr lang="en-US" altLang="ko-KR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경고</a:t>
                      </a:r>
                      <a:r>
                        <a:rPr lang="en-US" altLang="ko-KR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Troubleshoot </a:t>
                      </a:r>
                      <a:r>
                        <a:rPr lang="ko-KR" altLang="en-US" sz="13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 탑재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369501" y="1206624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 smtClean="0">
                <a:solidFill>
                  <a:srgbClr val="10B05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설명서</a:t>
            </a:r>
            <a:endParaRPr lang="ko-KR" altLang="en-US" sz="1400" b="1" dirty="0">
              <a:solidFill>
                <a:srgbClr val="10B05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745088" y="1206624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rgbClr val="10B05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도움말</a:t>
            </a:r>
          </a:p>
        </p:txBody>
      </p:sp>
      <p:sp>
        <p:nvSpPr>
          <p:cNvPr id="14" name="Down Arrow 13"/>
          <p:cNvSpPr/>
          <p:nvPr/>
        </p:nvSpPr>
        <p:spPr>
          <a:xfrm rot="16200000">
            <a:off x="4764169" y="2376865"/>
            <a:ext cx="411942" cy="422562"/>
          </a:xfrm>
          <a:prstGeom prst="downArrow">
            <a:avLst/>
          </a:prstGeom>
          <a:solidFill>
            <a:srgbClr val="A2D3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279776" y="2836122"/>
            <a:ext cx="1285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일부 발췌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docx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.html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53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기존 방식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(MSWord, PDF)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01422" y="5163490"/>
            <a:ext cx="1425916" cy="1864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2866368" y="4538661"/>
            <a:ext cx="1012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설명서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83314" y="3891740"/>
            <a:ext cx="2761964" cy="1060963"/>
          </a:xfrm>
          <a:prstGeom prst="roundRect">
            <a:avLst>
              <a:gd name="adj" fmla="val 11376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Down Arrow 7"/>
          <p:cNvSpPr/>
          <p:nvPr/>
        </p:nvSpPr>
        <p:spPr>
          <a:xfrm rot="10800000">
            <a:off x="6259553" y="3318112"/>
            <a:ext cx="411942" cy="398914"/>
          </a:xfrm>
          <a:prstGeom prst="downArrow">
            <a:avLst/>
          </a:prstGeom>
          <a:solidFill>
            <a:srgbClr val="A2D3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900573" y="2887334"/>
            <a:ext cx="1156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hi5a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제어기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도움말 기능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4021366" y="4022714"/>
            <a:ext cx="411942" cy="398914"/>
          </a:xfrm>
          <a:prstGeom prst="downArrow">
            <a:avLst/>
          </a:prstGeom>
          <a:solidFill>
            <a:srgbClr val="A2D3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9" descr="스크린샷이(가) 표시된 사진&#10;&#10;매우 높은 신뢰도로 생성된 설명">
            <a:extLst>
              <a:ext uri="{FF2B5EF4-FFF2-40B4-BE49-F238E27FC236}">
                <a16:creationId xmlns:lc="http://schemas.openxmlformats.org/drawingml/2006/lockedCanvas" xmlns:a16="http://schemas.microsoft.com/office/drawing/2014/main" xmlns="" id="{0EACAA44-590F-44CB-A3E4-E28A8BC31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656" y="3950417"/>
            <a:ext cx="496897" cy="5425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327203" y="3535242"/>
            <a:ext cx="1081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144821" y="3285149"/>
            <a:ext cx="1012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.html </a:t>
            </a:r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</a:t>
            </a:r>
            <a:endParaRPr lang="en-US" altLang="ko-KR" sz="1200" dirty="0" smtClea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수작업</a:t>
            </a:r>
            <a:r>
              <a:rPr lang="en-US" altLang="ko-KR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965" y="2282982"/>
            <a:ext cx="523915" cy="585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2716232" y="5407107"/>
            <a:ext cx="2564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구버전 파일 보관</a:t>
            </a:r>
            <a:r>
              <a:rPr lang="en-US" altLang="ko-KR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혹은</a:t>
            </a:r>
            <a:endParaRPr lang="en-US" altLang="ko-KR" sz="1200" dirty="0" smtClea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word</a:t>
            </a:r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</a:t>
            </a:r>
            <a:r>
              <a:rPr lang="en-US" altLang="ko-KR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기능 활용 </a:t>
            </a:r>
            <a:r>
              <a:rPr lang="en-US" altLang="ko-KR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번역팀</a:t>
            </a:r>
            <a:r>
              <a:rPr lang="en-US" altLang="ko-KR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16" name="그림 8">
            <a:extLst>
              <a:ext uri="{FF2B5EF4-FFF2-40B4-BE49-F238E27FC236}">
                <a16:creationId xmlns:lc="http://schemas.openxmlformats.org/drawingml/2006/lockedCanvas" xmlns:a16="http://schemas.microsoft.com/office/drawing/2014/main" xmlns="" id="{5078AD53-9218-4E87-9215-4D26CF9161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882" y="3031639"/>
            <a:ext cx="482107" cy="5432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2562753" y="3535242"/>
            <a:ext cx="833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</a:p>
        </p:txBody>
      </p:sp>
      <p:pic>
        <p:nvPicPr>
          <p:cNvPr id="19" name="그림 8">
            <a:extLst>
              <a:ext uri="{FF2B5EF4-FFF2-40B4-BE49-F238E27FC236}">
                <a16:creationId xmlns:lc="http://schemas.openxmlformats.org/drawingml/2006/lockedCanvas" xmlns:a16="http://schemas.microsoft.com/office/drawing/2014/main" xmlns="" id="{5078AD53-9218-4E87-9215-4D26CF9161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439" y="3031639"/>
            <a:ext cx="482107" cy="54321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3349310" y="3535242"/>
            <a:ext cx="833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번역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</a:p>
        </p:txBody>
      </p:sp>
      <p:pic>
        <p:nvPicPr>
          <p:cNvPr id="21" name="그림 8">
            <a:extLst>
              <a:ext uri="{FF2B5EF4-FFF2-40B4-BE49-F238E27FC236}">
                <a16:creationId xmlns:lc="http://schemas.openxmlformats.org/drawingml/2006/lockedCanvas" xmlns:a16="http://schemas.microsoft.com/office/drawing/2014/main" xmlns="" id="{5078AD53-9218-4E87-9215-4D26CF9161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252" y="3013539"/>
            <a:ext cx="482107" cy="543219"/>
          </a:xfrm>
          <a:prstGeom prst="rect">
            <a:avLst/>
          </a:prstGeom>
        </p:spPr>
      </p:pic>
      <p:pic>
        <p:nvPicPr>
          <p:cNvPr id="2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644" y="2226763"/>
            <a:ext cx="478233" cy="58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Down Arrow 22"/>
          <p:cNvSpPr/>
          <p:nvPr/>
        </p:nvSpPr>
        <p:spPr>
          <a:xfrm rot="13665828">
            <a:off x="4075155" y="2640384"/>
            <a:ext cx="411942" cy="398914"/>
          </a:xfrm>
          <a:prstGeom prst="downArrow">
            <a:avLst/>
          </a:prstGeom>
          <a:solidFill>
            <a:srgbClr val="A2D3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4" name="그림 8">
            <a:extLst>
              <a:ext uri="{FF2B5EF4-FFF2-40B4-BE49-F238E27FC236}">
                <a16:creationId xmlns:lc="http://schemas.openxmlformats.org/drawingml/2006/lockedCanvas" xmlns:a16="http://schemas.microsoft.com/office/drawing/2014/main" xmlns="" id="{5078AD53-9218-4E87-9215-4D26CF9161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957" y="1052736"/>
            <a:ext cx="392109" cy="44181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824588" y="1137246"/>
            <a:ext cx="1081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</a:t>
            </a:r>
          </a:p>
        </p:txBody>
      </p:sp>
      <p:pic>
        <p:nvPicPr>
          <p:cNvPr id="26" name="그림 8">
            <a:extLst>
              <a:ext uri="{FF2B5EF4-FFF2-40B4-BE49-F238E27FC236}">
                <a16:creationId xmlns:lc="http://schemas.openxmlformats.org/drawingml/2006/lockedCanvas" xmlns:a16="http://schemas.microsoft.com/office/drawing/2014/main" xmlns="" id="{5078AD53-9218-4E87-9215-4D26CF9161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338" y="1052736"/>
            <a:ext cx="392109" cy="441813"/>
          </a:xfrm>
          <a:prstGeom prst="rect">
            <a:avLst/>
          </a:prstGeom>
        </p:spPr>
      </p:pic>
      <p:pic>
        <p:nvPicPr>
          <p:cNvPr id="27" name="그림 8">
            <a:extLst>
              <a:ext uri="{FF2B5EF4-FFF2-40B4-BE49-F238E27FC236}">
                <a16:creationId xmlns:lc="http://schemas.openxmlformats.org/drawingml/2006/lockedCanvas" xmlns:a16="http://schemas.microsoft.com/office/drawing/2014/main" xmlns="" id="{5078AD53-9218-4E87-9215-4D26CF9161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014" y="1052736"/>
            <a:ext cx="392109" cy="44181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3462438" y="1118873"/>
            <a:ext cx="1286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느린 반영</a:t>
            </a:r>
            <a:endParaRPr lang="en-US" altLang="ko-KR" sz="12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반영 누락</a:t>
            </a:r>
            <a:endParaRPr lang="en-US" altLang="ko-KR" sz="12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471854" y="1560316"/>
            <a:ext cx="3873424" cy="1416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668416" y="4623143"/>
            <a:ext cx="5935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6039789" y="4601882"/>
            <a:ext cx="5048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style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Picture 12" descr="Html Logo 512*512 transprent Png Free Download - Blue, Text, Logo. -  CleanPNG / Kiss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577" y="4100407"/>
            <a:ext cx="501475" cy="50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4" descr="D:\git_repo\cmd_help_editor\_raw\icon_html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456" y="4100406"/>
            <a:ext cx="501475" cy="50147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4" descr="D:\git_repo\cmd_help_editor\_raw\icon_html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152" y="4040772"/>
            <a:ext cx="501475" cy="5014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:\git_repo\cmd_help_editor\_raw\icon_xml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452" y="4106289"/>
            <a:ext cx="489709" cy="48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6587916" y="4601882"/>
            <a:ext cx="8017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index </a:t>
            </a: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Down Arrow 38"/>
          <p:cNvSpPr/>
          <p:nvPr/>
        </p:nvSpPr>
        <p:spPr>
          <a:xfrm rot="10800000">
            <a:off x="4612189" y="1771400"/>
            <a:ext cx="411942" cy="398914"/>
          </a:xfrm>
          <a:prstGeom prst="downArrow">
            <a:avLst/>
          </a:prstGeom>
          <a:solidFill>
            <a:srgbClr val="A2D3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2941067" y="1890411"/>
            <a:ext cx="159261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 defTabSz="914400"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r>
              <a:rPr lang="ko-KR" altLang="en-US" dirty="0" smtClean="0"/>
              <a:t>온</a:t>
            </a:r>
            <a:r>
              <a:rPr lang="en-US" altLang="ko-KR" dirty="0" smtClean="0"/>
              <a:t>/</a:t>
            </a:r>
            <a:r>
              <a:rPr lang="ko-KR" altLang="en-US" dirty="0" smtClean="0"/>
              <a:t>오프라인 배포</a:t>
            </a:r>
            <a:endParaRPr lang="en-US" altLang="ko-KR" dirty="0"/>
          </a:p>
        </p:txBody>
      </p:sp>
      <p:sp>
        <p:nvSpPr>
          <p:cNvPr id="42" name="TextBox 4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077994" y="1771399"/>
            <a:ext cx="1910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개별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e-mail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종이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236038" y="5560995"/>
            <a:ext cx="1003733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 defTabSz="914400"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r>
              <a:rPr lang="ko-KR" altLang="en-US" dirty="0"/>
              <a:t>버전관리</a:t>
            </a:r>
            <a:endParaRPr lang="en-US" altLang="ko-KR" dirty="0"/>
          </a:p>
        </p:txBody>
      </p:sp>
      <p:pic>
        <p:nvPicPr>
          <p:cNvPr id="7171" name="Picture 3" descr="C:\drv_D\pub\hr-mdbook.js\_raw\icon-p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017" y="4101235"/>
            <a:ext cx="371976" cy="48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3" descr="C:\drv_D\pub\hr-mdbook.js\_raw\icon-p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589" y="4055227"/>
            <a:ext cx="371976" cy="487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375034" y="4611407"/>
            <a:ext cx="5830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</a:p>
        </p:txBody>
      </p:sp>
    </p:spTree>
    <p:extLst>
      <p:ext uri="{BB962C8B-B14F-4D97-AF65-F5344CB8AC3E}">
        <p14:creationId xmlns:p14="http://schemas.microsoft.com/office/powerpoint/2010/main" val="353097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기존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방식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(MSWord, PDF) :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문제점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850082"/>
              </p:ext>
            </p:extLst>
          </p:nvPr>
        </p:nvGraphicFramePr>
        <p:xfrm>
          <a:off x="467544" y="1124744"/>
          <a:ext cx="8877944" cy="498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256"/>
                <a:gridCol w="6192688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소요수준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이력 관리의 어려움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altLang="ko-KR" sz="13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docx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파일이 클 경우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MS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워드에 비교 기능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이력관리 기능이 있으나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동작이 무겁고 꼼꼼한 활용을 누락할 때가 많다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altLang="ko-KR" sz="13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어떤 변화과정을 거쳐 왔는지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누가 고쳤는지 이력별 확인이 어렵다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3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느린 변경 사항 업데이트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기능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명령문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에러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경고 코드 추가 시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개발자가 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altLang="ko-KR" sz="13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docx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파일에 이를 반영해도 공사과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SI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최종고객사 등 사용자들에게 즉각 배포되지 않는다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.html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작성도 착수가 늦거나 아예 안하는 경우가 많아서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TP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도움말은 거의 갱신이 안된다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번역</a:t>
                      </a: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시간의 소요</a:t>
                      </a:r>
                      <a:endParaRPr lang="ko-KR" altLang="en-US" sz="13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설명서는 한글로 작성되는데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 언어로 번역하는 데는 시간과 비용이 소요된다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번역본이 나오기를 기다려야 할 경우가 있다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양식 일괄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변경의 어려움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에러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경고 파일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명령문 도움말 파일 등 정형화된 양식의 문서는 형식을 일괄 변경할 때 일일이 수작업으로 편집해야 한다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3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설명서 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도움말 변환의 어려움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altLang="ko-KR" sz="13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docx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작성 후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이를 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</a:t>
                      </a: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 </a:t>
                      </a:r>
                      <a:r>
                        <a:rPr lang="en-US" altLang="ko-KR" sz="1300" baseline="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HRMaintenance</a:t>
                      </a: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내장하려면 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.html</a:t>
                      </a: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변환하는 수작업을 각 언어별로 따로 해야 함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간혹 연구원이 직접 수행하기도 하나 신속하지 못하고 시간 손실이 심하며 전 메뉴얼을 다 하지도 못한다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3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29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신규 방식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웹 기반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4" name="그림 8">
            <a:extLst>
              <a:ext uri="{FF2B5EF4-FFF2-40B4-BE49-F238E27FC236}">
                <a16:creationId xmlns:lc="http://schemas.openxmlformats.org/drawingml/2006/lockedCanvas" xmlns:a16="http://schemas.microsoft.com/office/drawing/2014/main" xmlns="" id="{5078AD53-9218-4E87-9215-4D26CF9161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97" y="4074945"/>
            <a:ext cx="482107" cy="54321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1064568" y="4578548"/>
            <a:ext cx="833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개발팀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6134053" y="1929384"/>
            <a:ext cx="1910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개별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e-mail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종이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3086246" y="5477435"/>
            <a:ext cx="1003733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 defTabSz="914400"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r>
              <a:rPr lang="ko-KR" altLang="en-US" dirty="0"/>
              <a:t>버전관리</a:t>
            </a:r>
            <a:endParaRPr lang="en-US" altLang="ko-KR" dirty="0"/>
          </a:p>
        </p:txBody>
      </p:sp>
      <p:sp>
        <p:nvSpPr>
          <p:cNvPr id="44" name="Rectangle 43"/>
          <p:cNvSpPr/>
          <p:nvPr/>
        </p:nvSpPr>
        <p:spPr>
          <a:xfrm>
            <a:off x="3610593" y="5148668"/>
            <a:ext cx="1474979" cy="1864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2729125" y="4958938"/>
            <a:ext cx="944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편집화면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1935339" y="1739917"/>
            <a:ext cx="1379778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 게시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9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659" y="2046019"/>
            <a:ext cx="910588" cy="541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616" y="1915968"/>
            <a:ext cx="5905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Down Arrow 53"/>
          <p:cNvSpPr/>
          <p:nvPr/>
        </p:nvSpPr>
        <p:spPr>
          <a:xfrm rot="10800000">
            <a:off x="4034695" y="3116573"/>
            <a:ext cx="411942" cy="812036"/>
          </a:xfrm>
          <a:prstGeom prst="downArrow">
            <a:avLst/>
          </a:prstGeom>
          <a:solidFill>
            <a:srgbClr val="A2D3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3682882" y="2635274"/>
            <a:ext cx="1156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hi6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제어기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도움말 기능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8" name="그림 8">
            <a:extLst>
              <a:ext uri="{FF2B5EF4-FFF2-40B4-BE49-F238E27FC236}">
                <a16:creationId xmlns:lc="http://schemas.openxmlformats.org/drawingml/2006/lockedCanvas" xmlns:a16="http://schemas.microsoft.com/office/drawing/2014/main" xmlns="" id="{5078AD53-9218-4E87-9215-4D26CF9161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135" y="1058985"/>
            <a:ext cx="392109" cy="441813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6308766" y="1143495"/>
            <a:ext cx="1081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</a:t>
            </a:r>
          </a:p>
        </p:txBody>
      </p:sp>
      <p:pic>
        <p:nvPicPr>
          <p:cNvPr id="60" name="그림 8">
            <a:extLst>
              <a:ext uri="{FF2B5EF4-FFF2-40B4-BE49-F238E27FC236}">
                <a16:creationId xmlns:lc="http://schemas.openxmlformats.org/drawingml/2006/lockedCanvas" xmlns:a16="http://schemas.microsoft.com/office/drawing/2014/main" xmlns="" id="{5078AD53-9218-4E87-9215-4D26CF9161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516" y="1058985"/>
            <a:ext cx="392109" cy="441813"/>
          </a:xfrm>
          <a:prstGeom prst="rect">
            <a:avLst/>
          </a:prstGeom>
        </p:spPr>
      </p:pic>
      <p:pic>
        <p:nvPicPr>
          <p:cNvPr id="61" name="그림 8">
            <a:extLst>
              <a:ext uri="{FF2B5EF4-FFF2-40B4-BE49-F238E27FC236}">
                <a16:creationId xmlns:lc="http://schemas.openxmlformats.org/drawingml/2006/lockedCanvas" xmlns:a16="http://schemas.microsoft.com/office/drawing/2014/main" xmlns="" id="{5078AD53-9218-4E87-9215-4D26CF9161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192" y="1058985"/>
            <a:ext cx="392109" cy="44181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3946616" y="1125122"/>
            <a:ext cx="1286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즉각 반영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브라우저 번역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3" name="그림 8">
            <a:extLst>
              <a:ext uri="{FF2B5EF4-FFF2-40B4-BE49-F238E27FC236}">
                <a16:creationId xmlns:lc="http://schemas.openxmlformats.org/drawingml/2006/lockedCanvas" xmlns:a16="http://schemas.microsoft.com/office/drawing/2014/main" xmlns="" id="{5078AD53-9218-4E87-9215-4D26CF9161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828" y="3163277"/>
            <a:ext cx="482107" cy="543219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3256699" y="3666880"/>
            <a:ext cx="833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번역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16873" y="1566565"/>
            <a:ext cx="6012583" cy="1416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846" y="1827569"/>
            <a:ext cx="478233" cy="58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Left-Right Arrow 2"/>
          <p:cNvSpPr/>
          <p:nvPr/>
        </p:nvSpPr>
        <p:spPr>
          <a:xfrm>
            <a:off x="3362539" y="4290190"/>
            <a:ext cx="504056" cy="399403"/>
          </a:xfrm>
          <a:prstGeom prst="leftRightArrow">
            <a:avLst/>
          </a:prstGeom>
          <a:solidFill>
            <a:srgbClr val="A2D3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7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947" y="4042910"/>
            <a:ext cx="1230737" cy="84140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8" name="Down Arrow 77"/>
          <p:cNvSpPr/>
          <p:nvPr/>
        </p:nvSpPr>
        <p:spPr>
          <a:xfrm rot="10800000">
            <a:off x="2420344" y="2630341"/>
            <a:ext cx="411942" cy="1158698"/>
          </a:xfrm>
          <a:prstGeom prst="downArrow">
            <a:avLst/>
          </a:prstGeom>
          <a:solidFill>
            <a:srgbClr val="A2D3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1665087" y="2629423"/>
            <a:ext cx="833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저장하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면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잠시 후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반영됨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3681309" y="4751888"/>
            <a:ext cx="1081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markdown files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6681192" y="4742126"/>
            <a:ext cx="1081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hr-mdbook.js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Down Arrow 95"/>
          <p:cNvSpPr/>
          <p:nvPr/>
        </p:nvSpPr>
        <p:spPr>
          <a:xfrm rot="16200000">
            <a:off x="4668320" y="4275638"/>
            <a:ext cx="411942" cy="422562"/>
          </a:xfrm>
          <a:prstGeom prst="downArrow">
            <a:avLst/>
          </a:prstGeom>
          <a:solidFill>
            <a:srgbClr val="A2D3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062" y="5398830"/>
            <a:ext cx="979896" cy="386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4" descr="How to Use GitBook for Technical Documentation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50" name="Picture 2" descr="C:\drv_D\pub\hr-mdbook.js\_raw\spaces_gitbook_avatar-rectangle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030" y="5010020"/>
            <a:ext cx="781670" cy="20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6393160" y="2401143"/>
            <a:ext cx="159261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 defTabSz="914400"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r>
              <a:rPr lang="ko-KR" altLang="en-US" dirty="0" smtClean="0"/>
              <a:t>온</a:t>
            </a:r>
            <a:r>
              <a:rPr lang="en-US" altLang="ko-KR" dirty="0" smtClean="0"/>
              <a:t>/</a:t>
            </a:r>
            <a:r>
              <a:rPr lang="ko-KR" altLang="en-US" dirty="0" smtClean="0"/>
              <a:t>오프라인 배포</a:t>
            </a:r>
            <a:endParaRPr lang="en-US" altLang="ko-KR" dirty="0"/>
          </a:p>
        </p:txBody>
      </p:sp>
      <p:sp>
        <p:nvSpPr>
          <p:cNvPr id="67" name="TextBox 66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6791537" y="3907405"/>
            <a:ext cx="1016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 결과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5307598" y="2886598"/>
            <a:ext cx="2748117" cy="980552"/>
          </a:xfrm>
          <a:prstGeom prst="roundRect">
            <a:avLst>
              <a:gd name="adj" fmla="val 11376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420278" y="3551325"/>
            <a:ext cx="5935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6750227" y="3530064"/>
            <a:ext cx="5048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style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0" name="Picture 12" descr="Html Logo 512*512 transprent Png Free Download - Blue, Text, Logo. -  CleanPNG / Kiss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015" y="3028589"/>
            <a:ext cx="501475" cy="50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4" descr="D:\git_repo\cmd_help_editor\_raw\icon_html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894" y="3028588"/>
            <a:ext cx="501475" cy="50147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4" descr="D:\git_repo\cmd_help_editor\_raw\icon_html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590" y="2968954"/>
            <a:ext cx="501475" cy="5014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TextBox 83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7298354" y="3530064"/>
            <a:ext cx="8017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index </a:t>
            </a: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5" name="Picture 3" descr="C:\drv_D\pub\hr-mdbook.js\_raw\icon-png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455" y="3029417"/>
            <a:ext cx="371976" cy="48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3" descr="C:\drv_D\pub\hr-mdbook.js\_raw\icon-png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027" y="2983409"/>
            <a:ext cx="371976" cy="487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TextBox 88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6085472" y="3539589"/>
            <a:ext cx="5830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</a:p>
        </p:txBody>
      </p:sp>
      <p:sp>
        <p:nvSpPr>
          <p:cNvPr id="94" name="Down Arrow 93"/>
          <p:cNvSpPr/>
          <p:nvPr/>
        </p:nvSpPr>
        <p:spPr>
          <a:xfrm rot="10800000">
            <a:off x="5726962" y="3941336"/>
            <a:ext cx="411942" cy="241603"/>
          </a:xfrm>
          <a:prstGeom prst="downArrow">
            <a:avLst/>
          </a:prstGeom>
          <a:solidFill>
            <a:srgbClr val="A2D3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Down Arrow 94"/>
          <p:cNvSpPr/>
          <p:nvPr/>
        </p:nvSpPr>
        <p:spPr>
          <a:xfrm rot="10800000">
            <a:off x="5726962" y="2514472"/>
            <a:ext cx="411942" cy="241603"/>
          </a:xfrm>
          <a:prstGeom prst="downArrow">
            <a:avLst/>
          </a:prstGeom>
          <a:solidFill>
            <a:srgbClr val="A2D3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2" name="Picture 4" descr="C:\drv_D\pub\hr-mdbook.js\_raw\icon-md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231" y="4217888"/>
            <a:ext cx="383334" cy="50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4" descr="C:\drv_D\pub\hr-mdbook.js\_raw\icon-md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631" y="4167684"/>
            <a:ext cx="383334" cy="50189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4" descr="C:\drv_D\pub\hr-mdbook.js\_raw\icon-md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020" y="3017560"/>
            <a:ext cx="383334" cy="50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598" y="4290363"/>
            <a:ext cx="1390526" cy="6493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258" y="2555031"/>
            <a:ext cx="742373" cy="22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995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신규 방식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(web) :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장점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543604"/>
              </p:ext>
            </p:extLst>
          </p:nvPr>
        </p:nvGraphicFramePr>
        <p:xfrm>
          <a:off x="467544" y="764704"/>
          <a:ext cx="8877944" cy="465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5216"/>
                <a:gridCol w="6552728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소요수준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중복 작성 없음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.md</a:t>
                      </a:r>
                      <a:r>
                        <a:rPr lang="en-US" altLang="ko-KR" sz="1300" kern="1200" baseline="300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1)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형식으로 한번 작성하면 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TP 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도움말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en-US" altLang="ko-KR" sz="1300" kern="1200" dirty="0" err="1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hrms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.pdf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 동시 반영됨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이력 관리 용이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.md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는 단순한 구조의 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 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파일이기 때문에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commit 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간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branch 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간 비교를 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beyond compare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 쉽게 할 수 있음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kern="1200" dirty="0" err="1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git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활용한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버전 관리 가능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3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충실한 변경 사항 업데이트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 게시할 경우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즉각적으로 전세계</a:t>
                      </a: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사용자에게 전달됨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altLang="ko-KR" sz="13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번역이 안된 한글판이라도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사용자들이 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PC/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모바일의 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Chrome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브라우져의 번역 기능에 의존해 급한대로 읽을 수는 있음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(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번역품질은 다소 떨어짐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.)</a:t>
                      </a: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필요할 때 즉각 최신 자료 검색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사용자는 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 스마트폰으로 즉각 설명서를 열고 검색으로 필요한 내용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명령어 등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찾아 볼 수 있다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로봇 현장에서의 빠른 기술자료 검색 제공은 타사 대비 세일즈 포인트임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통일된 문서 스타일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온라인과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PDF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문서의 디자인이 고정됨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통일된 디자인의 편집에 신경 쓸 필요 없음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88504" y="5888305"/>
            <a:ext cx="5688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arenR"/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md :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markdown (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ko.wikipedia.org/wiki/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마크다운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88504" y="5877272"/>
            <a:ext cx="547260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94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신규 방식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(web) :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한계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점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473774"/>
              </p:ext>
            </p:extLst>
          </p:nvPr>
        </p:nvGraphicFramePr>
        <p:xfrm>
          <a:off x="467544" y="774752"/>
          <a:ext cx="8877944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5216"/>
                <a:gridCol w="6552728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소요수준</a:t>
                      </a:r>
                      <a:endParaRPr lang="ko-KR" altLang="en-US" sz="13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복잡한 형태의 표 편집 불가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dirty="0" err="1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MxN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형태의 표는 쉽게 편집 가능하나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칸 합치기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자유로운 색상 지정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표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내에 그림 포함은 불가 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300" kern="1200" baseline="0" dirty="0" err="1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gitbook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서비스의 한계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복잡한 표는 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word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나 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excel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 작성</a:t>
                      </a: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후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그림 캡쳐하여 삽입할 수 밖에 없음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그림으로 삽입한 표의 문자열은 당연히 검색이 안 되는 문제가 있다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.)</a:t>
                      </a:r>
                      <a:endParaRPr lang="en-US" altLang="ko-KR" sz="13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비용 발생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kern="1200" dirty="0" err="1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gitbook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이용료가 든다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(20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명 기준 사용자당 월 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$12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 비싸지는 않다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용량은 무제한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3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자유로운 스타일 불가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글자 크기</a:t>
                      </a:r>
                      <a:r>
                        <a:rPr lang="en-US" altLang="ko-KR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색상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레이아웃 등을 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MS word</a:t>
                      </a: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만큼 자유롭게 할 수 없다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정해진 틀에 맞춰 내용만 작성한다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전체 문서의 정형화와 통일성의 측면에선 장점이기도 하다</a:t>
                      </a:r>
                      <a:r>
                        <a:rPr lang="en-US" altLang="ko-KR" sz="13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3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새로운 작성 방식 훈련 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번역 참여자들이 새로운 방식에 익숙해져야 한다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gitbook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사이트에서의 편집은 매우 직관적이고 쉽다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반면 </a:t>
                      </a:r>
                      <a:r>
                        <a:rPr lang="en-US" altLang="ko-KR" sz="1300" baseline="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버전관리는 당사 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개발팀에게는 매우 친숙하지만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번역팀에게는 다소 어려울 수 있다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altLang="ko-KR" sz="13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6608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보안 측면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duon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설치 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</a:t>
                      </a:r>
                      <a:r>
                        <a:rPr lang="en-US" altLang="ko-KR" sz="13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gitbook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사이트에서의 입력이 제한된다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임원 결제를 받아 </a:t>
                      </a:r>
                      <a:r>
                        <a:rPr lang="en-US" altLang="ko-KR" sz="13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gitbook</a:t>
                      </a:r>
                      <a:r>
                        <a:rPr lang="en-US" altLang="ko-KR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3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사이트를 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예외 처리해야 한다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후발 경쟁사가 쉽게 접근 가능하다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(</a:t>
                      </a:r>
                      <a:r>
                        <a:rPr lang="ko-KR" altLang="en-US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권한을 제약할 수는 있음</a:t>
                      </a:r>
                      <a:r>
                        <a:rPr lang="en-US" altLang="ko-KR" sz="13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379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gitbook.com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이용료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05" y="980728"/>
            <a:ext cx="4886251" cy="304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385048" y="3689148"/>
            <a:ext cx="4047723" cy="341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플랜 가입 시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20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 기준 월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$12</a:t>
            </a:r>
          </a:p>
        </p:txBody>
      </p:sp>
    </p:spTree>
    <p:extLst>
      <p:ext uri="{BB962C8B-B14F-4D97-AF65-F5344CB8AC3E}">
        <p14:creationId xmlns:p14="http://schemas.microsoft.com/office/powerpoint/2010/main" val="232630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gitbook.com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활용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가입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로그인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664968" y="692696"/>
            <a:ext cx="4248472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30000"/>
              </a:lnSpc>
              <a:buFontTx/>
              <a:buAutoNum type="arabicParenR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 action="ppaction://hlinkfile"/>
              </a:rPr>
              <a:t>gitbook.com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접속하여 가입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(Sign Up)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 가입했다면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Sign In)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675854" y="3158256"/>
            <a:ext cx="4047723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 생성하여 가입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 가입했다면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skip)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702" y="3158256"/>
            <a:ext cx="2667613" cy="3343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15" y="692696"/>
            <a:ext cx="4102700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412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gitbook.com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활용 </a:t>
            </a:r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space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생성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457056" y="2862243"/>
            <a:ext cx="4047723" cy="341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Create a new space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클릭하여 새 공간 생성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05" y="764704"/>
            <a:ext cx="5003643" cy="2443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01" y="3356992"/>
            <a:ext cx="3690539" cy="307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204639" y="5051440"/>
            <a:ext cx="55446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TITLE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e.g. Hi6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제어기 기능설명서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로봇언어 </a:t>
            </a: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HRScript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색상 선정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VISIBILITY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Private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Create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602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gitbook.com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활용 </a:t>
            </a:r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내용 작성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7041232" y="5575855"/>
            <a:ext cx="25001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chapter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section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좌측 트리구조로 편집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01" y="760908"/>
            <a:ext cx="6599724" cy="31794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950" y="4101899"/>
            <a:ext cx="2567275" cy="22126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7089744" y="3567349"/>
            <a:ext cx="1224136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내용작성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319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gitbook.com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활용 </a:t>
            </a:r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작성 사례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00" y="764704"/>
            <a:ext cx="7967875" cy="544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364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gitbook.com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활용 </a:t>
            </a:r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설명서 릴리즈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!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3440832" y="3356992"/>
            <a:ext cx="5256584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Share – Shareable Link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링크를 복사해 보관하고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Open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링크를 사용자들에게 전달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사용자들은 바로가기를 만들어 필요할 때마다 즉각 접속해 설명서 참조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01" y="842180"/>
            <a:ext cx="2939630" cy="404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903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gitbook.com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활용 </a:t>
            </a:r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설명서 보기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817096" y="6100248"/>
            <a:ext cx="3456384" cy="37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스마트폰에서 열어 본 본문 내용과 목차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269" y="836712"/>
            <a:ext cx="1631171" cy="1417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Down Arrow 10"/>
          <p:cNvSpPr/>
          <p:nvPr/>
        </p:nvSpPr>
        <p:spPr>
          <a:xfrm rot="3239813">
            <a:off x="1432449" y="705105"/>
            <a:ext cx="411942" cy="398914"/>
          </a:xfrm>
          <a:prstGeom prst="downArrow">
            <a:avLst/>
          </a:prstGeom>
          <a:solidFill>
            <a:srgbClr val="A2D36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2808448" y="1670190"/>
            <a:ext cx="5256584" cy="62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브라우저의 바로가기를 스마트폰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HOME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화면에 아이콘으로 꺼내놓으면 편하고 신속하게 설명서를 열어볼 수 있다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367" y="2521880"/>
            <a:ext cx="1944627" cy="38745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5363" name="Picture 3" descr="C:\drv_D\pub\hr-mdbook.js\_raw\phone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269" y="2526816"/>
            <a:ext cx="1934821" cy="386964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ular Callout 2"/>
          <p:cNvSpPr/>
          <p:nvPr/>
        </p:nvSpPr>
        <p:spPr>
          <a:xfrm>
            <a:off x="369501" y="3140968"/>
            <a:ext cx="601077" cy="288032"/>
          </a:xfrm>
          <a:prstGeom prst="wedgeRectCallout">
            <a:avLst>
              <a:gd name="adj1" fmla="val 78637"/>
              <a:gd name="adj2" fmla="val -46629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Rectangular Callout 12"/>
          <p:cNvSpPr/>
          <p:nvPr/>
        </p:nvSpPr>
        <p:spPr>
          <a:xfrm>
            <a:off x="3121301" y="3140968"/>
            <a:ext cx="601077" cy="288032"/>
          </a:xfrm>
          <a:prstGeom prst="wedgeRectCallout">
            <a:avLst>
              <a:gd name="adj1" fmla="val -71905"/>
              <a:gd name="adj2" fmla="val -43322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666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gitbook.com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활용 </a:t>
            </a:r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버전 관리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953000" y="1860398"/>
            <a:ext cx="4608512" cy="121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Integrations – </a:t>
            </a: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GibHub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스위치를 켜면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github.com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연동된다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 창에서 </a:t>
            </a: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Ctrl+S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저장하고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merge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버튼을 클릭하면 </a:t>
            </a: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push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된다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01" y="3142747"/>
            <a:ext cx="3994907" cy="104034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ight Arrow 2"/>
          <p:cNvSpPr/>
          <p:nvPr/>
        </p:nvSpPr>
        <p:spPr>
          <a:xfrm flipH="1">
            <a:off x="4220392" y="3205230"/>
            <a:ext cx="504056" cy="520170"/>
          </a:xfrm>
          <a:prstGeom prst="rightArrow">
            <a:avLst/>
          </a:prstGeom>
          <a:solidFill>
            <a:srgbClr val="A2D36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1" y="692696"/>
            <a:ext cx="3857997" cy="2335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953000" y="3224680"/>
            <a:ext cx="4608512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아이콘을 클릭하면 바로 </a:t>
            </a: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해당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project/branch/file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이동한다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023" y="4347786"/>
            <a:ext cx="3465385" cy="21055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855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gitbook.com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활용 </a:t>
            </a:r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버전 관리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49" y="679930"/>
            <a:ext cx="4448635" cy="2656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00025" y="3400425"/>
            <a:ext cx="8244916" cy="37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repository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clone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하면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Space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구성하는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.md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그림 파일들을 얻을 수 있다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6249144" y="5442440"/>
            <a:ext cx="3527996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VisualStudio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Code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선호하는 편집기로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.md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파일들을 직접 편집하여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push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 수도 있다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679930"/>
            <a:ext cx="4636530" cy="26568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85" y="4059360"/>
            <a:ext cx="5656549" cy="2284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691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gitbook.com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활용 </a:t>
            </a:r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variant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활용한 번역본 관리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160912" y="5975598"/>
            <a:ext cx="5472607" cy="37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variant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repository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새로운 브랜치로 관리된다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3695624" y="2270398"/>
            <a:ext cx="1621607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후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New variant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01" y="679930"/>
            <a:ext cx="2939061" cy="253304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Down Arrow 9"/>
          <p:cNvSpPr/>
          <p:nvPr/>
        </p:nvSpPr>
        <p:spPr>
          <a:xfrm rot="5400000">
            <a:off x="3213997" y="2273023"/>
            <a:ext cx="411942" cy="398914"/>
          </a:xfrm>
          <a:prstGeom prst="downArrow">
            <a:avLst/>
          </a:prstGeom>
          <a:solidFill>
            <a:srgbClr val="A2D36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023" y="3823980"/>
            <a:ext cx="4964323" cy="207460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231" y="679930"/>
            <a:ext cx="3770115" cy="253304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01" y="4211645"/>
            <a:ext cx="3019943" cy="1667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293302" y="5949064"/>
            <a:ext cx="3326123" cy="37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이제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variant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선택해 편집할 수 있다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012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gitbook.com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활용 </a:t>
            </a:r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Chrome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자동 번역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313040" y="1577106"/>
            <a:ext cx="4340013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번역이 안 된 상태에서 해외 사용자가 당장 설명서가 필요한 때에는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급한대로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Chrome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자동번역 기능을 활용할 수도 있다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모바일용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Chrome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브라우저는 수십 개국 언어로의 자동 번역 기능을 제공한다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93" y="620688"/>
            <a:ext cx="4859833" cy="24506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93" y="3212975"/>
            <a:ext cx="4795331" cy="32443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313040" y="5445225"/>
            <a:ext cx="4340013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 외의 언어로 번역하면 프로그래밍 언어의 소스코드까지 번역되어 버리는 문제점이 있다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2" name="Right Arrow 11"/>
          <p:cNvSpPr/>
          <p:nvPr/>
        </p:nvSpPr>
        <p:spPr>
          <a:xfrm rot="18934745" flipH="1">
            <a:off x="1174582" y="5043242"/>
            <a:ext cx="504056" cy="520170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31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gitbook.com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활용 </a:t>
            </a:r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PDF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생성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내장 기능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778558" y="933653"/>
            <a:ext cx="3527996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gitbook.com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PDF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아이콘을 클릭하여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Space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전체를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PDF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파일로 생성할 수 있다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유료 회원만 가능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01" y="764704"/>
            <a:ext cx="3810071" cy="2823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ight Arrow 10"/>
          <p:cNvSpPr/>
          <p:nvPr/>
        </p:nvSpPr>
        <p:spPr>
          <a:xfrm flipH="1">
            <a:off x="4058478" y="933653"/>
            <a:ext cx="504056" cy="520170"/>
          </a:xfrm>
          <a:prstGeom prst="rightArrow">
            <a:avLst/>
          </a:prstGeom>
          <a:solidFill>
            <a:srgbClr val="A2D36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00" y="3728701"/>
            <a:ext cx="1905035" cy="268436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412" y="3728701"/>
            <a:ext cx="1904365" cy="268436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778558" y="3728701"/>
            <a:ext cx="3527996" cy="121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그러나 모양이 너무 단순하게 출력된다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표지 디자인도 없고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목차도 없고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머릿글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바닥글도 없고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페이지도 없다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글꼴 크기나 줄 간격도 조절 안된다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422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gitbook.com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활용 </a:t>
            </a:r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PDF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생성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(hr-mdbook.js 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활용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448944" y="908720"/>
            <a:ext cx="5184576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gitbook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space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PDF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변환해주는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hr-mdbook.js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웹앱을 활용해 더 나은 출력을 얻을 수 있다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사용법은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hr-mdbook.js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참조할 것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707" y="620688"/>
            <a:ext cx="2856478" cy="16368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707" y="3705363"/>
            <a:ext cx="1921828" cy="2707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720" y="3705363"/>
            <a:ext cx="1911532" cy="2707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6537176" y="4149080"/>
            <a:ext cx="3096344" cy="205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book.css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적용되므로 당사의 설명서 디자인과 최대한 유사하게 출력된다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표지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머릿글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바닥글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페이지를 모두 갖추고 있고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css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조정하면 글꼴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줄간격 등 각종 스타일 변경이 가능하다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944" y="3705362"/>
            <a:ext cx="1917212" cy="27077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624" y="1886922"/>
            <a:ext cx="2669224" cy="1294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ight Arrow 12"/>
          <p:cNvSpPr/>
          <p:nvPr/>
        </p:nvSpPr>
        <p:spPr>
          <a:xfrm rot="13409346" flipH="1">
            <a:off x="1244588" y="1551502"/>
            <a:ext cx="504056" cy="520170"/>
          </a:xfrm>
          <a:prstGeom prst="rightArrow">
            <a:avLst/>
          </a:prstGeom>
          <a:solidFill>
            <a:srgbClr val="A2D36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747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참고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] hr-mdbook.js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– meta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정보 설정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592960" y="3882938"/>
            <a:ext cx="5184576" cy="261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langCode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언어코드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series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 시리즈 제목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title :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 제목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publisher :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출판사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tocTitle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 상단에 배치할 문구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tocTitleElements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TOC(Table of Contents),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 목차에 열거할 제목의 레벨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여기서는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html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&lt;h1&gt;, &lt;h2&gt;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chapter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section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레벨까지만 목차에 열거하는 것으로 설정했다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6" y="777788"/>
            <a:ext cx="4017576" cy="27229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592960" y="2636912"/>
            <a:ext cx="5184576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Space repository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루트에 </a:t>
            </a: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bookinfo.json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만들어 책의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정보를 입력한다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정보는 책 표지와 목차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머릿글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바닥글에 사용된다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6" y="3866914"/>
            <a:ext cx="4048125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594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참고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] hr-mdbook.js -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설치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2861" y="4219165"/>
            <a:ext cx="282365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https://nodejs.org/ko/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</a:t>
            </a:r>
            <a:r>
              <a:rPr lang="en-US" altLang="ko-KR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(LTS)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21" y="1317784"/>
            <a:ext cx="2460328" cy="2686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944888" y="4219165"/>
            <a:ext cx="47734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hr-mdbook.js/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폴더에서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install.bat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실행하여 필요한 모듈 설치</a:t>
            </a:r>
            <a:endParaRPr lang="en-US" altLang="ko-KR" sz="1200" b="1" dirty="0" smtClean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(</a:t>
            </a:r>
            <a:r>
              <a:rPr lang="ko-KR" altLang="en-US" sz="12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더블클릭해도 됨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.)</a:t>
            </a:r>
            <a:endParaRPr lang="en-US" altLang="ko-KR" sz="1200" b="1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206" y="1892019"/>
            <a:ext cx="3558331" cy="211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669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참고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] hr-mdbook.js -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실행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2861" y="4219165"/>
            <a:ext cx="2999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arenR"/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run.bat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실행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더블클릭해도 됨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7056" y="4219165"/>
            <a:ext cx="4176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Chrome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열리면서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hr-mdbook.js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실행됨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85" y="1221612"/>
            <a:ext cx="4638675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64" y="1221612"/>
            <a:ext cx="3597349" cy="2789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385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참고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] hr-mdbook.js -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실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240" y="4219165"/>
            <a:ext cx="32127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Space repository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경로를 입력하고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bind-book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클릭하면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.md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파일들이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public/out/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폴더에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.html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변환된다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5146" y="4221088"/>
            <a:ext cx="2396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print-book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버튼을 클릭하면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preview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열린다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마우스 우버튼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 클릭</a:t>
            </a:r>
            <a:endParaRPr lang="en-US" altLang="ko-KR" sz="1200" b="1" dirty="0" smtClean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61" y="1798281"/>
            <a:ext cx="3068594" cy="230425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0777" y="1340768"/>
            <a:ext cx="2399038" cy="27730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168" y="1340769"/>
            <a:ext cx="3242219" cy="2787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393160" y="4221088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위와 같이 설정하고 저장 버튼 클릭하면 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pdf </a:t>
            </a:r>
            <a:r>
              <a:rPr lang="ko-KR" altLang="en-US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파일이 생성된다</a:t>
            </a:r>
            <a:r>
              <a:rPr lang="en-US" altLang="ko-KR" sz="1200" b="1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611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수행 절차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349732" y="764704"/>
            <a:ext cx="8203668" cy="37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hr-mdbook.js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수행은 크게 아래와 같이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절차로 이루어진다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962159"/>
              </p:ext>
            </p:extLst>
          </p:nvPr>
        </p:nvGraphicFramePr>
        <p:xfrm>
          <a:off x="704528" y="1556792"/>
          <a:ext cx="8640960" cy="391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/>
                <a:gridCol w="5616624"/>
                <a:gridCol w="1944216"/>
              </a:tblGrid>
              <a:tr h="41857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절차명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관련코드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</a:tr>
              <a:tr h="41857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adjust-md</a:t>
                      </a:r>
                      <a:endParaRPr lang="ko-KR" altLang="en-US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12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gitbook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 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markdown 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파일 내용 중 일부를 일괄 조정한다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(.md 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파일을 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pdf 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변환이 아닌 다른 용도로 사용할 때 필요한 전처리들임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당장은 이 기능이 활용되지는 않는다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.)</a:t>
                      </a:r>
                      <a:endParaRPr lang="ko-KR" altLang="en-US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adjustMd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()</a:t>
                      </a:r>
                      <a:endParaRPr lang="en-US" altLang="ko-KR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</a:tr>
              <a:tr h="580902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bind-book</a:t>
                      </a:r>
                      <a:endParaRPr lang="ko-KR" altLang="en-US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기준 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html 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출력 폴더를 삭제한다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2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fs.rmDirSync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 )</a:t>
                      </a:r>
                      <a:endParaRPr lang="ko-KR" altLang="en-US" sz="12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</a:tr>
              <a:tr h="580902">
                <a:tc vMerge="1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모든 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markdown 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파일을 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html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 변환해 별도의 폴더에 저장한다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2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md2html.convDir( )</a:t>
                      </a:r>
                      <a:endParaRPr lang="ko-KR" altLang="en-US" sz="12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</a:tr>
              <a:tr h="580902">
                <a:tc vMerge="1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html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들을 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table of contents 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파일의 구성 순서대로 하나의 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html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 묶는다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2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bookbind.bind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 )</a:t>
                      </a:r>
                    </a:p>
                  </a:txBody>
                  <a:tcPr anchor="ctr"/>
                </a:tc>
              </a:tr>
              <a:tr h="732509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print-book</a:t>
                      </a:r>
                      <a:endParaRPr lang="ko-KR" altLang="en-US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html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을 책 레이아웃의 미리보기 형태로 보여준다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</a:p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Google Chrome 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브라이저의 인쇄기능을 이용해 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pdf 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파일로 저장할 수 있다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paged.js </a:t>
                      </a:r>
                      <a:r>
                        <a:rPr lang="ko-KR" altLang="en-US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활용해 구현했다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2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printBook</a:t>
                      </a:r>
                      <a:r>
                        <a:rPr lang="en-US" altLang="ko-KR" sz="12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()</a:t>
                      </a:r>
                      <a:endParaRPr lang="en-US" altLang="ko-KR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74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7257256" y="2279519"/>
            <a:ext cx="1803103" cy="454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257256" y="3056381"/>
            <a:ext cx="1803103" cy="4876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path_md/.md files +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SUMMARY.md (TOC)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client-server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95768" y="1596032"/>
            <a:ext cx="2157432" cy="399320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526568" y="752611"/>
            <a:ext cx="4533791" cy="3724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 defTabSz="914400">
              <a:lnSpc>
                <a:spcPct val="13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r>
              <a:rPr lang="en-US" altLang="ko-KR" dirty="0"/>
              <a:t>server-side (node.js)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599613" y="1223621"/>
            <a:ext cx="2304256" cy="341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server.js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66871" y="2718443"/>
            <a:ext cx="1823653" cy="6206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 “/adjust-md”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[in]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path_md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66871" y="3433190"/>
            <a:ext cx="1823653" cy="6206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 “/bind-book”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[in]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path_md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0512" y="1596032"/>
            <a:ext cx="2808312" cy="399320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560512" y="752611"/>
            <a:ext cx="2808312" cy="3724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client-side (html5/</a:t>
            </a: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css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88504" y="1223621"/>
            <a:ext cx="3096344" cy="37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index.html 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</a:t>
            </a: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/mdbook.js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4282" y="2718443"/>
            <a:ext cx="1120365" cy="6206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[adjust-md]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4282" y="3433190"/>
            <a:ext cx="1120365" cy="6206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[bind-book]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282" y="4153270"/>
            <a:ext cx="1120365" cy="6206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[print-book]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68624" y="5056977"/>
            <a:ext cx="1584177" cy="3771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window.open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(html )</a:t>
            </a:r>
          </a:p>
        </p:txBody>
      </p:sp>
      <p:cxnSp>
        <p:nvCxnSpPr>
          <p:cNvPr id="5" name="Elbow Connector 4"/>
          <p:cNvCxnSpPr>
            <a:stCxn id="21" idx="3"/>
            <a:endCxn id="22" idx="0"/>
          </p:cNvCxnSpPr>
          <p:nvPr/>
        </p:nvCxnSpPr>
        <p:spPr>
          <a:xfrm>
            <a:off x="1784647" y="4463589"/>
            <a:ext cx="576066" cy="593388"/>
          </a:xfrm>
          <a:prstGeom prst="bentConnector2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8" idx="3"/>
            <a:endCxn id="8" idx="1"/>
          </p:cNvCxnSpPr>
          <p:nvPr/>
        </p:nvCxnSpPr>
        <p:spPr>
          <a:xfrm>
            <a:off x="1784647" y="3028762"/>
            <a:ext cx="2982224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0" idx="3"/>
            <a:endCxn id="9" idx="1"/>
          </p:cNvCxnSpPr>
          <p:nvPr/>
        </p:nvCxnSpPr>
        <p:spPr>
          <a:xfrm>
            <a:off x="1784647" y="3743509"/>
            <a:ext cx="2982224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3446319" y="2671798"/>
            <a:ext cx="1152128" cy="341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ajax post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648400" y="2376875"/>
            <a:ext cx="1152128" cy="341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&lt;button&gt;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82985" y="1957243"/>
            <a:ext cx="2300833" cy="310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markdown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경로 지정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648400" y="1620058"/>
            <a:ext cx="1152128" cy="341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&lt;input&gt;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257256" y="1565190"/>
            <a:ext cx="1803103" cy="3691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334" y="2328077"/>
            <a:ext cx="979896" cy="386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2" descr="C:\drv_D\pub\hr-mdbook.js\_raw\spaces_gitbook_avatar-rectangl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1218" y="1653015"/>
            <a:ext cx="781670" cy="20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/>
          <p:cNvSpPr/>
          <p:nvPr/>
        </p:nvSpPr>
        <p:spPr>
          <a:xfrm>
            <a:off x="7257256" y="4007340"/>
            <a:ext cx="1803103" cy="3351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public/out/.html files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6" name="Straight Arrow Connector 45"/>
          <p:cNvCxnSpPr>
            <a:stCxn id="44" idx="2"/>
            <a:endCxn id="42" idx="0"/>
          </p:cNvCxnSpPr>
          <p:nvPr/>
        </p:nvCxnSpPr>
        <p:spPr>
          <a:xfrm>
            <a:off x="8158808" y="2734442"/>
            <a:ext cx="0" cy="3219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8226549" y="2709712"/>
            <a:ext cx="928584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clone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9" name="Elbow Connector 48"/>
          <p:cNvCxnSpPr>
            <a:stCxn id="42" idx="1"/>
            <a:endCxn id="9" idx="3"/>
          </p:cNvCxnSpPr>
          <p:nvPr/>
        </p:nvCxnSpPr>
        <p:spPr>
          <a:xfrm rot="10800000" flipV="1">
            <a:off x="6590524" y="3300223"/>
            <a:ext cx="666732" cy="443285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9" idx="2"/>
            <a:endCxn id="43" idx="1"/>
          </p:cNvCxnSpPr>
          <p:nvPr/>
        </p:nvCxnSpPr>
        <p:spPr>
          <a:xfrm rot="16200000" flipH="1">
            <a:off x="6407432" y="3325094"/>
            <a:ext cx="121091" cy="157855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257256" y="4705350"/>
            <a:ext cx="1803103" cy="3516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public/out/book.html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6" name="Straight Arrow Connector 55"/>
          <p:cNvCxnSpPr>
            <a:stCxn id="43" idx="2"/>
            <a:endCxn id="54" idx="0"/>
          </p:cNvCxnSpPr>
          <p:nvPr/>
        </p:nvCxnSpPr>
        <p:spPr>
          <a:xfrm>
            <a:off x="8158808" y="4342497"/>
            <a:ext cx="0" cy="3628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39" idx="2"/>
            <a:endCxn id="44" idx="0"/>
          </p:cNvCxnSpPr>
          <p:nvPr/>
        </p:nvCxnSpPr>
        <p:spPr>
          <a:xfrm>
            <a:off x="8158808" y="1934342"/>
            <a:ext cx="0" cy="3451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8226549" y="1918982"/>
            <a:ext cx="928584" cy="305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merge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568624" y="5954613"/>
            <a:ext cx="1584177" cy="3771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</a:p>
        </p:txBody>
      </p:sp>
      <p:cxnSp>
        <p:nvCxnSpPr>
          <p:cNvPr id="89" name="Straight Arrow Connector 88"/>
          <p:cNvCxnSpPr>
            <a:stCxn id="22" idx="2"/>
            <a:endCxn id="87" idx="0"/>
          </p:cNvCxnSpPr>
          <p:nvPr/>
        </p:nvCxnSpPr>
        <p:spPr>
          <a:xfrm>
            <a:off x="2360713" y="5434157"/>
            <a:ext cx="0" cy="5204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2412882" y="5589240"/>
            <a:ext cx="1387989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크롬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print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8239819" y="4318460"/>
            <a:ext cx="1406972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file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merge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8361736" y="1470244"/>
            <a:ext cx="749572" cy="3691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book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4766871" y="5056977"/>
            <a:ext cx="1823653" cy="3771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+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css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8" name="Elbow Connector 107"/>
          <p:cNvCxnSpPr>
            <a:stCxn id="54" idx="2"/>
            <a:endCxn id="103" idx="3"/>
          </p:cNvCxnSpPr>
          <p:nvPr/>
        </p:nvCxnSpPr>
        <p:spPr>
          <a:xfrm rot="5400000">
            <a:off x="7280371" y="4367130"/>
            <a:ext cx="188590" cy="156828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103" idx="1"/>
            <a:endCxn id="22" idx="3"/>
          </p:cNvCxnSpPr>
          <p:nvPr/>
        </p:nvCxnSpPr>
        <p:spPr>
          <a:xfrm flipH="1">
            <a:off x="3152801" y="5245567"/>
            <a:ext cx="161407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5168614"/>
            <a:ext cx="686364" cy="210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154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미리 보기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인쇄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(paged.js)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58" y="1844823"/>
            <a:ext cx="8922963" cy="247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635706" y="4403578"/>
            <a:ext cx="2443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/ footer</a:t>
            </a:r>
            <a:r>
              <a:rPr lang="ko-KR" altLang="en-US" sz="12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배치된 요소들</a:t>
            </a:r>
            <a:endParaRPr lang="ko-KR" altLang="en-US" sz="12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6102" y="2434697"/>
            <a:ext cx="53033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</a:t>
            </a:r>
            <a:endParaRPr lang="ko-KR" altLang="en-US" sz="12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22675" y="2434697"/>
            <a:ext cx="64472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author</a:t>
            </a:r>
            <a:endParaRPr lang="ko-KR" altLang="en-US" sz="12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33320" y="2434697"/>
            <a:ext cx="729687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running</a:t>
            </a:r>
            <a:endParaRPr lang="ko-KR" altLang="en-US" sz="12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33320" y="3573016"/>
            <a:ext cx="857864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book-title</a:t>
            </a:r>
            <a:endParaRPr lang="ko-KR" altLang="en-US" sz="12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1215" y="3573016"/>
            <a:ext cx="1170449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book-sub-title</a:t>
            </a:r>
            <a:endParaRPr lang="ko-KR" altLang="en-US" sz="12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00672" y="1398547"/>
            <a:ext cx="1021562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left-page</a:t>
            </a:r>
            <a:endParaRPr lang="ko-KR" altLang="en-US" sz="16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37176" y="1398547"/>
            <a:ext cx="1155381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right-page</a:t>
            </a:r>
            <a:endParaRPr lang="ko-KR" altLang="en-US" sz="16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91184" y="2434697"/>
            <a:ext cx="53033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</a:t>
            </a:r>
            <a:endParaRPr lang="ko-KR" altLang="en-US" sz="12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509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미리 보기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인쇄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(paged.js)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615" y="692696"/>
            <a:ext cx="2907230" cy="56500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7462109" y="731642"/>
            <a:ext cx="115993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size, margin</a:t>
            </a:r>
            <a:endParaRPr lang="ko-KR" altLang="en-US" sz="14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9800" y="1953827"/>
            <a:ext cx="912301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left-page</a:t>
            </a:r>
            <a:endParaRPr lang="ko-KR" altLang="en-US" sz="14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59800" y="5805264"/>
            <a:ext cx="1032206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right-page</a:t>
            </a:r>
            <a:endParaRPr lang="ko-KR" altLang="en-US" sz="14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8692115" y="6109967"/>
            <a:ext cx="960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1" dirty="0" smtClean="0">
                <a:solidFill>
                  <a:srgbClr val="0070C0"/>
                </a:solidFill>
              </a:rPr>
              <a:t>book.css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pic>
        <p:nvPicPr>
          <p:cNvPr id="23" name="Picture 12" descr="Html Logo 512*512 transprent Png Free Download - Blue, Text, Logo. -  CleanPNG / Kiss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1050" y="5640911"/>
            <a:ext cx="501475" cy="50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92872"/>
            <a:ext cx="4045225" cy="53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729180" y="6065761"/>
            <a:ext cx="3415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 margin boxes of page defined by the W3C</a:t>
            </a:r>
            <a:endParaRPr lang="ko-KR" altLang="en-US" sz="12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618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미진한 점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개선 필요한 사항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678133"/>
              </p:ext>
            </p:extLst>
          </p:nvPr>
        </p:nvGraphicFramePr>
        <p:xfrm>
          <a:off x="704528" y="836712"/>
          <a:ext cx="8640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48"/>
                <a:gridCol w="4608512"/>
              </a:tblGrid>
              <a:tr h="24367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문제점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대책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.pdf 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앞 부분에 목차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(toc)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만들어지지만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navigation-bar </a:t>
                      </a:r>
                      <a:r>
                        <a:rPr lang="ko-KR" altLang="en-US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책갈피</a:t>
                      </a:r>
                      <a:r>
                        <a:rPr lang="en-US" altLang="ko-KR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(bookmark)</a:t>
                      </a:r>
                      <a:r>
                        <a:rPr lang="ko-KR" altLang="en-US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안 만들어진다</a:t>
                      </a:r>
                      <a:r>
                        <a:rPr lang="en-US" altLang="ko-KR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(Chrome</a:t>
                      </a:r>
                      <a:r>
                        <a:rPr lang="ko-KR" altLang="en-US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미제공 기능</a:t>
                      </a:r>
                      <a:r>
                        <a:rPr lang="en-US" altLang="ko-KR" sz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Acrobat Reader (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무료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에는 책갈피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생성 기능 없음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indent="-17145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Acrobat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유료버전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영구 라이선스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77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만원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에는 책갈피 생성 기능 있음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(make 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bookmark from structure)</a:t>
                      </a: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Chrome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용량이 큰 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book(1000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 정도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미리보기 시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간혹 좌우로 밀려 표시되는 페이지가 생기고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.pdf 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파일로도 그대로 밀려 저장된다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원인불명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Chrome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에서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미리보기 해놓고 한참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(10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여분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?)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기다렸다가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.pdf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 저장하면 괜찮은 것 같다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확실치는 않음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indent="-17145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의외로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Microsoft Edge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크로미움 기반 신규 브라우저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에서는 문제가 없는 것 같다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확실치는 않음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51" y="3429000"/>
            <a:ext cx="3569271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own Arrow 2"/>
          <p:cNvSpPr/>
          <p:nvPr/>
        </p:nvSpPr>
        <p:spPr>
          <a:xfrm rot="2700000">
            <a:off x="2549390" y="3649139"/>
            <a:ext cx="225322" cy="32637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798440" y="3469168"/>
            <a:ext cx="1370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 밀림 현상</a:t>
            </a:r>
            <a:endParaRPr lang="ko-KR" altLang="en-US" sz="12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225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81948"/>
            <a:ext cx="571553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개발도구</a:t>
            </a:r>
            <a:endParaRPr lang="en-US" altLang="ko-KR" sz="18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0512" y="1056157"/>
            <a:ext cx="32153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front-end library : </a:t>
            </a:r>
            <a:r>
              <a:rPr lang="en-US" altLang="ko-KR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jquery</a:t>
            </a:r>
            <a:endParaRPr lang="en-US" altLang="ko-KR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U/I decoration : bootstrap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</a:t>
            </a:r>
            <a:r>
              <a:rPr lang="en-US" altLang="ko-K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express.js</a:t>
            </a:r>
            <a:endParaRPr lang="en-US" altLang="ko-KR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template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엔진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ejs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인쇄용 </a:t>
            </a:r>
            <a:r>
              <a:rPr lang="en-US" altLang="ko-K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 </a:t>
            </a:r>
            <a:r>
              <a:rPr lang="ko-KR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paged.js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browser, </a:t>
            </a:r>
            <a:r>
              <a:rPr lang="ko-KR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 </a:t>
            </a:r>
            <a:r>
              <a:rPr lang="en-US" altLang="ko-K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Chrome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IDE : VS code, Chrome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형상관리 </a:t>
            </a:r>
            <a:r>
              <a:rPr lang="en-US" altLang="ko-K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r>
              <a:rPr lang="en-US" altLang="ko-K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sourcetree</a:t>
            </a:r>
            <a:endParaRPr lang="en-US" altLang="ko-KR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936" y="1052736"/>
            <a:ext cx="4730243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374292" y="4077072"/>
            <a:ext cx="38164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https://www.pagedjs.org</a:t>
            </a:r>
            <a:r>
              <a:rPr lang="en-US" altLang="ko-KR" sz="1200" dirty="0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/</a:t>
            </a:r>
            <a:endParaRPr lang="en-US" altLang="ko-KR" sz="1200" dirty="0" smtClean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  <a:r>
              <a:rPr lang="en-US" altLang="ko-KR" sz="1200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 </a:t>
            </a: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매기기</a:t>
            </a:r>
            <a:endParaRPr lang="en-US" altLang="ko-KR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 margin </a:t>
            </a: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지정하기</a:t>
            </a:r>
            <a:endParaRPr lang="en-US" altLang="ko-KR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  <a:r>
              <a:rPr lang="en-US" altLang="ko-KR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(toc) </a:t>
            </a: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만들기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지정한 요소를 </a:t>
            </a:r>
            <a:r>
              <a:rPr lang="en-US" altLang="ko-KR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header/footer</a:t>
            </a: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배치</a:t>
            </a:r>
            <a:endParaRPr lang="en-US" altLang="ko-KR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지정한 요소에서 </a:t>
            </a:r>
            <a:r>
              <a:rPr lang="en-US" altLang="ko-KR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 </a:t>
            </a: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나누기</a:t>
            </a:r>
            <a:endParaRPr lang="en-US" altLang="ko-KR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946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front-end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r>
              <a:rPr lang="en-US" altLang="ko-KR" sz="1800" dirty="0" err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js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file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목록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(public/</a:t>
            </a:r>
            <a:r>
              <a:rPr lang="en-US" altLang="ko-KR" sz="1800" dirty="0" err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js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폴더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190808"/>
              </p:ext>
            </p:extLst>
          </p:nvPr>
        </p:nvGraphicFramePr>
        <p:xfrm>
          <a:off x="704528" y="836712"/>
          <a:ext cx="8640960" cy="2018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/>
                <a:gridCol w="6984776"/>
              </a:tblGrid>
              <a:tr h="24367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filename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mdbook.js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각 버튼에 대한 핸들러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ajax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호출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paged.polyfill.js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paged.js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에서 제공한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main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그대로 사용할 것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hlinkClick r:id="rId2"/>
                        </a:rPr>
                        <a:t>https://gitlab.pagedmedia.org/tools/pagedjs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toc.js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paged.js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제공한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table-of-content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생성 구현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그대로 사용할 것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hlinkClick r:id="rId3"/>
                        </a:rPr>
                        <a:t>https://www.pagedjs.org/posts/2020-02-19-toc/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55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back-end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r>
              <a:rPr lang="en-US" altLang="ko-KR" sz="1800" dirty="0" err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js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file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목록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800" dirty="0" err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src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폴더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325498"/>
              </p:ext>
            </p:extLst>
          </p:nvPr>
        </p:nvGraphicFramePr>
        <p:xfrm>
          <a:off x="704528" y="836712"/>
          <a:ext cx="8640960" cy="4838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/>
                <a:gridCol w="6984776"/>
              </a:tblGrid>
              <a:tr h="24367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filename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server.js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express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메인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프로그램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hlinkClick r:id="rId2"/>
                        </a:rPr>
                        <a:t>https://expressjs.com/ko/</a:t>
                      </a: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bookbind.js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err="1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bookinfo.json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책 메타정보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읽어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SUMMARY.md (TOC;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목차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읽어 그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구조대로 통합된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book.html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을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bind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하는 기능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indent="-17145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&lt;h1&gt;~&lt;h6&gt;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 레벨을 부여하거나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en-US" altLang="ko-KR" sz="1200" kern="1200" dirty="0" err="1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img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 경로를 조정하거나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style class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적용하는 등 필요한 전처리도 수행한다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indent="-17145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책 앞 표지와 뒷 표지도 붙인다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앞 표지는 제목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부제목 등 메타정보가 삽입되어야 하기 때문에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템플릿엔진인 </a:t>
                      </a:r>
                      <a:r>
                        <a:rPr lang="en-US" altLang="ko-KR" sz="1200" kern="1200" dirty="0" err="1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ejs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활용했다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indent="-17145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hlinkClick r:id="rId3"/>
                        </a:rPr>
                        <a:t>https://ejs.co/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md_adjuster.js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adjust-md 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markdown file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들에 대한 전처리</a:t>
                      </a:r>
                      <a:endParaRPr lang="en-US" altLang="ko-KR" sz="12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진수 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entity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code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한글 </a:t>
                      </a:r>
                      <a:r>
                        <a:rPr lang="en-US" altLang="ko-KR" sz="1200" kern="1200" dirty="0" err="1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unicode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md2html.js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markdown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 html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일괄 변환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md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 대한 전처리 포함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hlinkClick r:id="rId4"/>
                        </a:rPr>
                        <a:t>https://github.com/markdown-it/markdown-it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util.js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유틸리티 함수들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65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html, template file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목록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(public/view/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폴더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819814"/>
              </p:ext>
            </p:extLst>
          </p:nvPr>
        </p:nvGraphicFramePr>
        <p:xfrm>
          <a:off x="704528" y="836712"/>
          <a:ext cx="8640960" cy="2834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6552728"/>
              </a:tblGrid>
              <a:tr h="24367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filename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../index.html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form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선택 메뉴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시작 화면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). bootstrap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으로 디자인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2"/>
                        </a:rPr>
                        <a:t>https://getbootstrap.com/</a:t>
                      </a: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book_cover_back_en.html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책 뒷 표지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영문</a:t>
                      </a: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book_cover_back_ko.html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책 뒷 표지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한글</a:t>
                      </a: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book_cover_front.ejs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책 앞 표지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template</a:t>
                      </a: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book_template.ejs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책 전체 구조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template</a:t>
                      </a: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form.ejs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입력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form template</a:t>
                      </a: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2188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en-US" altLang="ko-KR" sz="1800" dirty="0" err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css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file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목록 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800" dirty="0" err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css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폴더</a:t>
            </a:r>
            <a:r>
              <a:rPr lang="en-US" altLang="ko-KR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81498"/>
              </p:ext>
            </p:extLst>
          </p:nvPr>
        </p:nvGraphicFramePr>
        <p:xfrm>
          <a:off x="704528" y="836712"/>
          <a:ext cx="8640960" cy="2391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/>
                <a:gridCol w="6984776"/>
              </a:tblGrid>
              <a:tr h="24367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filename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book.css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책 디자인에 사용되는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style</a:t>
                      </a: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interface.css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paged.js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제공한 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preview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구현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그대로 사용할 것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hlinkClick r:id="rId2"/>
                        </a:rPr>
                        <a:t>https://gitlab.pagedmedia.org/tools/interface-polyfill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style.css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main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style. 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입력 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form 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및 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book 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디자인 일부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  <a:tr h="3728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toc.css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table-of-content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style</a:t>
                      </a:r>
                    </a:p>
                    <a:p>
                      <a:pPr marL="0" marR="0" indent="0" algn="l" defTabSz="957027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hlinkClick r:id="rId3"/>
                        </a:rPr>
                        <a:t>https://www.pagedjs.org/posts/2020-02-19-toc/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참고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363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01" y="141582"/>
            <a:ext cx="571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끝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lc="http://schemas.openxmlformats.org/drawingml/2006/lockedCanvas" xmlns:a16="http://schemas.microsoft.com/office/drawing/2014/main" xmlns="" id="{C3A6451A-D42D-4533-BAAB-2768EB62B87B}"/>
              </a:ext>
            </a:extLst>
          </p:cNvPr>
          <p:cNvSpPr txBox="1"/>
          <p:nvPr/>
        </p:nvSpPr>
        <p:spPr>
          <a:xfrm>
            <a:off x="4016896" y="3140968"/>
            <a:ext cx="1368152" cy="661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ko-KR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끝</a:t>
            </a:r>
            <a:endParaRPr lang="en-US" altLang="ko-KR" sz="3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649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2.xml><?xml version="1.0" encoding="utf-8"?>
<a:theme xmlns:a="http://schemas.openxmlformats.org/drawingml/2006/main" name="2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3.xml><?xml version="1.0" encoding="utf-8"?>
<a:theme xmlns:a="http://schemas.openxmlformats.org/drawingml/2006/main" name="3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65000"/>
            </a:schemeClr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4.xml><?xml version="1.0" encoding="utf-8"?>
<a:theme xmlns:a="http://schemas.openxmlformats.org/drawingml/2006/main" name="4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5.xml><?xml version="1.0" encoding="utf-8"?>
<a:theme xmlns:a="http://schemas.openxmlformats.org/drawingml/2006/main" name="7_옵션안 표지">
  <a:themeElements>
    <a:clrScheme name="HHI PPT 컬러 시스템">
      <a:dk1>
        <a:srgbClr val="4D4C4E"/>
      </a:dk1>
      <a:lt1>
        <a:sysClr val="window" lastClr="FFFFFF"/>
      </a:lt1>
      <a:dk2>
        <a:srgbClr val="262627"/>
      </a:dk2>
      <a:lt2>
        <a:srgbClr val="EAEAEA"/>
      </a:lt2>
      <a:accent1>
        <a:srgbClr val="009DBC"/>
      </a:accent1>
      <a:accent2>
        <a:srgbClr val="034168"/>
      </a:accent2>
      <a:accent3>
        <a:srgbClr val="618844"/>
      </a:accent3>
      <a:accent4>
        <a:srgbClr val="246478"/>
      </a:accent4>
      <a:accent5>
        <a:srgbClr val="81776A"/>
      </a:accent5>
      <a:accent6>
        <a:srgbClr val="FDB913"/>
      </a:accent6>
      <a:hlink>
        <a:srgbClr val="0000FF"/>
      </a:hlink>
      <a:folHlink>
        <a:srgbClr val="800080"/>
      </a:folHlink>
    </a:clrScheme>
    <a:fontScheme name="현대체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7.xml><?xml version="1.0" encoding="utf-8"?>
<a:theme xmlns:a="http://schemas.openxmlformats.org/drawingml/2006/main" name="6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8.xml><?xml version="1.0" encoding="utf-8"?>
<a:theme xmlns:a="http://schemas.openxmlformats.org/drawingml/2006/main" name="7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9.xml><?xml version="1.0" encoding="utf-8"?>
<a:theme xmlns:a="http://schemas.openxmlformats.org/drawingml/2006/main" name="8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10.xml><?xml version="1.0" encoding="utf-8"?>
<a:theme xmlns:a="http://schemas.openxmlformats.org/drawingml/2006/main" name="9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11.xml><?xml version="1.0" encoding="utf-8"?>
<a:theme xmlns:a="http://schemas.openxmlformats.org/drawingml/2006/main" name="10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12.xml><?xml version="1.0" encoding="utf-8"?>
<a:theme xmlns:a="http://schemas.openxmlformats.org/drawingml/2006/main" name="11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13.xml><?xml version="1.0" encoding="utf-8"?>
<a:theme xmlns:a="http://schemas.openxmlformats.org/drawingml/2006/main" name="12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14.xml><?xml version="1.0" encoding="utf-8"?>
<a:theme xmlns:a="http://schemas.openxmlformats.org/drawingml/2006/main" name="13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15.xml><?xml version="1.0" encoding="utf-8"?>
<a:theme xmlns:a="http://schemas.openxmlformats.org/drawingml/2006/main" name="14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16.xml><?xml version="1.0" encoding="utf-8"?>
<a:theme xmlns:a="http://schemas.openxmlformats.org/drawingml/2006/main" name="15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17.xml><?xml version="1.0" encoding="utf-8"?>
<a:theme xmlns:a="http://schemas.openxmlformats.org/drawingml/2006/main" name="16_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현대체 Bold"/>
        <a:ea typeface="현대체 Bold"/>
        <a:cs typeface=""/>
      </a:majorFont>
      <a:minorFont>
        <a:latin typeface="현대체 Medium"/>
        <a:ea typeface="현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" id="{514AB023-3E88-45AB-9C44-D3BC96310A44}" vid="{2FD45F26-A038-4DE9-B897-F088B7C0D50C}"/>
    </a:ext>
  </a:extLst>
</a:theme>
</file>

<file path=ppt/theme/theme1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32015</TotalTime>
  <Words>2112</Words>
  <Application>Microsoft Office PowerPoint</Application>
  <PresentationFormat>A4 Paper (210x297 mm)</PresentationFormat>
  <Paragraphs>377</Paragraphs>
  <Slides>35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17</vt:i4>
      </vt:variant>
      <vt:variant>
        <vt:lpstr>Slide Titles</vt:lpstr>
      </vt:variant>
      <vt:variant>
        <vt:i4>35</vt:i4>
      </vt:variant>
    </vt:vector>
  </HeadingPairs>
  <TitlesOfParts>
    <vt:vector size="52" baseType="lpstr">
      <vt:lpstr>1_Default Theme</vt:lpstr>
      <vt:lpstr>2_Default Theme</vt:lpstr>
      <vt:lpstr>3_Default Theme</vt:lpstr>
      <vt:lpstr>4_Default Theme</vt:lpstr>
      <vt:lpstr>7_옵션안 표지</vt:lpstr>
      <vt:lpstr>5_Default Theme</vt:lpstr>
      <vt:lpstr>6_Default Theme</vt:lpstr>
      <vt:lpstr>7_Default Theme</vt:lpstr>
      <vt:lpstr>8_Default Theme</vt:lpstr>
      <vt:lpstr>9_Default Theme</vt:lpstr>
      <vt:lpstr>10_Default Theme</vt:lpstr>
      <vt:lpstr>11_Default Theme</vt:lpstr>
      <vt:lpstr>12_Default Theme</vt:lpstr>
      <vt:lpstr>13_Default Theme</vt:lpstr>
      <vt:lpstr>14_Default Theme</vt:lpstr>
      <vt:lpstr>15_Default Theme</vt:lpstr>
      <vt:lpstr>16_Default Theme</vt:lpstr>
      <vt:lpstr>설명서 웹 기반화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김규표</dc:creator>
  <cp:lastModifiedBy>우리집</cp:lastModifiedBy>
  <cp:revision>2820</cp:revision>
  <cp:lastPrinted>2020-12-17T06:44:41Z</cp:lastPrinted>
  <dcterms:created xsi:type="dcterms:W3CDTF">2017-01-23T07:34:20Z</dcterms:created>
  <dcterms:modified xsi:type="dcterms:W3CDTF">2021-10-04T04:08:16Z</dcterms:modified>
</cp:coreProperties>
</file>